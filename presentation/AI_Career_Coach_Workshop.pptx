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84df10ab-4af7-b205-3cf5-0b758dd4956c}">
          <p14:sldIdLst>
            <p14:sldId id="256"/>
            <p14:sldId id="257"/>
          </p14:sldIdLst>
        </p14:section>
        <p14:section name="The Basics" id="{743762dc-03a2-003c-4bcb-6594af46acd5}">
          <p14:sldIdLst>
            <p14:sldId id="258"/>
            <p14:sldId id="259"/>
            <p14:sldId id="260"/>
          </p14:sldIdLst>
        </p14:section>
        <p14:section name="The Project" id="{2dcbec02-2427-0db7-6484-e60897e67fbf}">
          <p14:sldIdLst>
            <p14:sldId id="261"/>
            <p14:sldId id="262"/>
            <p14:sldId id="263"/>
          </p14:sldIdLst>
        </p14:section>
        <p14:section name="How It Works" id="{2b47adbe-2cbc-f377-1f5e-bc59490c00ce}">
          <p14:sldIdLst>
            <p14:sldId id="264"/>
            <p14:sldId id="265"/>
            <p14:sldId id="266"/>
            <p14:sldId id="267"/>
            <p14:sldId id="268"/>
            <p14:sldId id="269"/>
            <p14:sldId id="270"/>
          </p14:sldIdLst>
        </p14:section>
        <p14:section name="Let's Build" id="{58eadc16-5174-3c58-886d-013b76e71790}">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not a lecture. In 45 minutes, each of you will build a real AI app that runs in the cloud. You will leave with your own link that you can share with friends, family, and future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makes today different. You are the builder. By the end, you will have a working app, a link to share, and a plan for your own career in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sounds fancy, but the idea is simple. Instead of buying and fixing your own computers, you use computers that a company like Amazon runs for you. You reach them over the internet. Amazon's cloud is called AWS, which stands for Amazon Web Services. Ask: who here has a phone plan? You pay for what you use. The cloud works like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the cloud. When you watch a show, back up photos, check email, or text a group chat, you are using the cloud. Today you go from using the cloud to building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learns patterns from lots of examples. Generative AI is the kind that creates new things, like writing or images. Training an AI model costs millions of dollars, so we won't do that. Instead, we connect to a model that is already trained. Knowing how to connect AI to real apps is one of the most in-demand skills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app we are building. You type in four things: the job you want, like Cloud Engineer or Cybersecurity Analyst, your experience, your interests, and your study time. In about five seconds, the AI gives you skills, certifications, projects, and a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us did not grow up with a parent, cousin, or neighbor working in tech. So the first question is often: where do I even start? This app gives a clear first step. And by building it yourself, you prove that you belong in this space as a creator, not just 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four goals for you. One: a working app with a link you can share. Two: real skills you can talk about in an interview. Three: a personal roadmap for your career. Four: confidence. Put this project on LinkedIn and on your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AWS tools. Amplify hosts the website. API Gateway is the front door that receives requests. Lambda runs our code only when needed, so it costs almost nothing. Bedrock gives us access to AI models. We will use one called Amazon Nova. We don't buy servers or train AI. We just connect these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Amplify is where our website lives. Our site is just three files. Amplify stores them and gives us a link that works on any phone or laptop. We don't set up any computers. We upload a zip file and Amplify does the rest. The link even starts with https, which means the connection is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Gateway is the front door. The website can't reach our code directly. Instead, it sends your answers to one web address, and API Gateway passes them to Lambda. It also brings the answer back. Because everything goes through one door, we can control who gets in and how often. API means a way for two programs to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Lambda is where our Python code runs. The code is short. It reads your answers, turns them into instructions for the AI, and sends back the result. Lambda only runs when someone clicks the button. The rest of the time, it costs nothing. This is called serverless. There are still computers, but AWS takes care of them, not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Bedrock is the brain of our app. It gives us access to AI models from Amazon and other companies. We use one called Amazon Nova Pro. Our Lambda code sends Nova a prompt. A prompt is just the instructions you give an AI. Nova sends back your roadmap. Remember the playground at the start? That's Bedrock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AWS tools help in the background. IAM stands for Identity and Access Management. It controls permissions. Our Lambda code gets permission to use the Nova AI and nothing else. That's a good safety habit called least privilege. CloudWatch keeps logs. A log is a record of what happened. When something goes wrong, the logs tell us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one click travels. Think of a restaurant. You order at the website, which Amplify hosts. API Gateway is the server who carries your order to the kitchen. Lambda is the cook who turns your answers into clear instructions for the AI. Those instructions are called a prompt. Bedrock is the chef: the AI writes your plan. Then the plan travels back to your screen. The whole trip takes about five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plan. We'll go step by step, and we'll all move together. If you fall behind, that's okay. We have a backup link so everyone can still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any coding experience today. We'll copy and paste the code together. Every engineer sees error messages every day. They are clues, not failures. And we build better together, so help your neighbor.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you touch today, like cloud services, APIs, serverless code, and AI models, are used every day in these jobs. Try the app with one of these goals and see your own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GitHub link on your laptop and download the files. Then sign in to the AWS console, and let's build your AI career coach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68096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77640"/>
            <a:ext cx="7680960" cy="128016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tx2"/>
                </a:solidFill>
              </a:rPr>
              <a:t>AI STEM Career Navigator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3.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680960" cy="1737360"/>
          </a:xfrm>
          <a:prstGeom prst="rect">
            <a:avLst/>
          </a:prstGeom>
          <a:noFill/>
          <a:ln/>
        </p:spPr>
        <p:txBody>
          <a:bodyPr wrap="square" lIns="0" tIns="0" rIns="0" bIns="0" rtlCol="0" anchor="b"/>
          <a:lstStyle/>
          <a:p>
            <a:pPr algn="l" indent="0" marL="0">
              <a:buNone/>
            </a:pPr>
            <a:r>
              <a:rPr lang="en-US" sz="4800" b="1" dirty="0">
                <a:solidFill>
                  <a:schemeClr val="bg1"/>
                </a:solidFill>
              </a:rPr>
              <a:t>Build Your Own AI Career Coach</a:t>
            </a:r>
            <a:endParaRPr lang="en-US" sz="4800" dirty="0"/>
          </a:p>
        </p:txBody>
      </p:sp>
      <p:sp>
        <p:nvSpPr>
          <p:cNvPr id="3" name="Text 0"/>
          <p:cNvSpPr/>
          <p:nvPr>
            <p:ph idx="101" type="body" hasCustomPrompt="1"/>
          </p:nvPr>
        </p:nvSpPr>
        <p:spPr>
          <a:xfrm>
            <a:off x="731520" y="3977640"/>
            <a:ext cx="7680960" cy="1280160"/>
          </a:xfrm>
          <a:prstGeom prst="rect">
            <a:avLst/>
          </a:prstGeom>
          <a:noFill/>
          <a:ln/>
        </p:spPr>
        <p:txBody>
          <a:bodyPr wrap="square" lIns="0" tIns="0" rIns="0" bIns="0" rtlCol="0" anchor="t"/>
          <a:lstStyle/>
          <a:p>
            <a:pPr algn="l" indent="0" marL="0">
              <a:buNone/>
            </a:pPr>
            <a:r>
              <a:rPr lang="en-US" sz="2200" dirty="0">
                <a:solidFill>
                  <a:schemeClr val="accent1"/>
                </a:solidFill>
              </a:rPr>
              <a:t>A hands-on cloud and AI workshop · 45 minutes</a:t>
            </a:r>
            <a:endParaRPr lang="en-US" sz="2200" dirty="0"/>
          </a:p>
        </p:txBody>
      </p:sp>
      <p:pic>
        <p:nvPicPr>
          <p:cNvPr id="4" name="hero icon" descr="Rocket">    </p:cNvPr>
          <p:cNvPicPr>
            <a:picLocks noChangeAspect="1"/>
          </p:cNvPicPr>
          <p:nvPr/>
        </p:nvPicPr>
        <p:blipFill>
          <a:blip r:embed="rId1"/>
          <a:stretch>
            <a:fillRect/>
          </a:stretch>
        </p:blipFill>
        <p:spPr>
          <a:xfrm>
            <a:off x="9144000" y="23774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Today, you don't just watch. You build.</a:t>
            </a:r>
            <a:endParaRPr lang="en-US" sz="3600" dirty="0"/>
          </a:p>
        </p:txBody>
      </p:sp>
      <p:sp>
        <p:nvSpPr>
          <p:cNvPr id="3" name="goal 1 card"/>
          <p:cNvSpPr/>
          <p:nvPr/>
        </p:nvSpPr>
        <p:spPr>
          <a:xfrm>
            <a:off x="548640" y="1737360"/>
            <a:ext cx="3520440" cy="3108960"/>
          </a:xfrm>
          <a:prstGeom prst="roundRect">
            <a:avLst>
              <a:gd name="adj" fmla="val 4412"/>
            </a:avLst>
          </a:prstGeom>
          <a:solidFill>
            <a:schemeClr val="bg2"/>
          </a:solidFill>
          <a:ln/>
        </p:spPr>
      </p:sp>
      <p:sp>
        <p:nvSpPr>
          <p:cNvPr id="4" name="goal 1 circle"/>
          <p:cNvSpPr/>
          <p:nvPr/>
        </p:nvSpPr>
        <p:spPr>
          <a:xfrm>
            <a:off x="822960" y="2011680"/>
            <a:ext cx="731520" cy="731520"/>
          </a:xfrm>
          <a:prstGeom prst="ellipse">
            <a:avLst/>
          </a:prstGeom>
          <a:solidFill>
            <a:schemeClr val="accent1"/>
          </a:solidFill>
          <a:ln/>
        </p:spPr>
      </p:sp>
      <p:pic>
        <p:nvPicPr>
          <p:cNvPr id="5" name="goal 1 icon" descr="goal 1">    </p:cNvPr>
          <p:cNvPicPr>
            <a:picLocks noChangeAspect="1"/>
          </p:cNvPicPr>
          <p:nvPr/>
        </p:nvPicPr>
        <p:blipFill>
          <a:blip r:embed="rId1"/>
          <a:stretch>
            <a:fillRect/>
          </a:stretch>
        </p:blipFill>
        <p:spPr>
          <a:xfrm>
            <a:off x="1005840" y="2194560"/>
            <a:ext cx="365760" cy="365760"/>
          </a:xfrm>
          <a:prstGeom prst="rect">
            <a:avLst/>
          </a:prstGeom>
        </p:spPr>
      </p:pic>
      <p:sp>
        <p:nvSpPr>
          <p:cNvPr id="6" name="goal 1 head"/>
          <p:cNvSpPr txBox="1"/>
          <p:nvPr/>
        </p:nvSpPr>
        <p:spPr>
          <a:xfrm>
            <a:off x="822960" y="2926080"/>
            <a:ext cx="2971800" cy="457200"/>
          </a:xfrm>
          <a:prstGeom prst="rect">
            <a:avLst/>
          </a:prstGeom>
          <a:noFill/>
          <a:ln/>
        </p:spPr>
        <p:txBody>
          <a:bodyPr wrap="square" lIns="0" tIns="0" rIns="0" bIns="0" rtlCol="0" anchor="t"/>
          <a:lstStyle/>
          <a:p>
            <a:pPr indent="0" marL="0">
              <a:buNone/>
            </a:pPr>
            <a:r>
              <a:rPr lang="en-US" sz="2200" b="1" dirty="0">
                <a:solidFill>
                  <a:schemeClr val="tx1"/>
                </a:solidFill>
              </a:rPr>
              <a:t>Build a real AI app</a:t>
            </a:r>
            <a:endParaRPr lang="en-US" sz="2200" dirty="0"/>
          </a:p>
        </p:txBody>
      </p:sp>
      <p:sp>
        <p:nvSpPr>
          <p:cNvPr id="7" name="goal 1 body"/>
          <p:cNvSpPr txBox="1"/>
          <p:nvPr/>
        </p:nvSpPr>
        <p:spPr>
          <a:xfrm>
            <a:off x="822960" y="3429000"/>
            <a:ext cx="2971800" cy="1188720"/>
          </a:xfrm>
          <a:prstGeom prst="rect">
            <a:avLst/>
          </a:prstGeom>
          <a:noFill/>
          <a:ln/>
        </p:spPr>
        <p:txBody>
          <a:bodyPr wrap="square" lIns="0" tIns="0" rIns="0" bIns="0" rtlCol="0" anchor="t"/>
          <a:lstStyle/>
          <a:p>
            <a:pPr indent="0" marL="0">
              <a:buNone/>
            </a:pPr>
            <a:r>
              <a:rPr lang="en-US" sz="1800" dirty="0">
                <a:solidFill>
                  <a:schemeClr val="tx2"/>
                </a:solidFill>
              </a:rPr>
              <a:t>You will connect cloud tools to make an app that works.</a:t>
            </a:r>
            <a:endParaRPr lang="en-US" sz="1800" dirty="0"/>
          </a:p>
        </p:txBody>
      </p:sp>
      <p:sp>
        <p:nvSpPr>
          <p:cNvPr id="8" name="goal 2 card"/>
          <p:cNvSpPr/>
          <p:nvPr/>
        </p:nvSpPr>
        <p:spPr>
          <a:xfrm>
            <a:off x="4343400" y="1737360"/>
            <a:ext cx="3520440" cy="3108960"/>
          </a:xfrm>
          <a:prstGeom prst="roundRect">
            <a:avLst>
              <a:gd name="adj" fmla="val 4412"/>
            </a:avLst>
          </a:prstGeom>
          <a:solidFill>
            <a:schemeClr val="bg2"/>
          </a:solidFill>
          <a:ln/>
        </p:spPr>
      </p:sp>
      <p:sp>
        <p:nvSpPr>
          <p:cNvPr id="9" name="goal 2 circle"/>
          <p:cNvSpPr/>
          <p:nvPr/>
        </p:nvSpPr>
        <p:spPr>
          <a:xfrm>
            <a:off x="4617720" y="2011680"/>
            <a:ext cx="731520" cy="731520"/>
          </a:xfrm>
          <a:prstGeom prst="ellipse">
            <a:avLst/>
          </a:prstGeom>
          <a:solidFill>
            <a:schemeClr val="accent1"/>
          </a:solidFill>
          <a:ln/>
        </p:spPr>
      </p:sp>
      <p:pic>
        <p:nvPicPr>
          <p:cNvPr id="10" name="goal 2 icon" descr="goal 2">    </p:cNvPr>
          <p:cNvPicPr>
            <a:picLocks noChangeAspect="1"/>
          </p:cNvPicPr>
          <p:nvPr/>
        </p:nvPicPr>
        <p:blipFill>
          <a:blip r:embed="rId2"/>
          <a:stretch>
            <a:fillRect/>
          </a:stretch>
        </p:blipFill>
        <p:spPr>
          <a:xfrm>
            <a:off x="4800600" y="2194560"/>
            <a:ext cx="365760" cy="365760"/>
          </a:xfrm>
          <a:prstGeom prst="rect">
            <a:avLst/>
          </a:prstGeom>
        </p:spPr>
      </p:pic>
      <p:sp>
        <p:nvSpPr>
          <p:cNvPr id="11" name="goal 2 head"/>
          <p:cNvSpPr txBox="1"/>
          <p:nvPr/>
        </p:nvSpPr>
        <p:spPr>
          <a:xfrm>
            <a:off x="4617720" y="2926080"/>
            <a:ext cx="2971800" cy="457200"/>
          </a:xfrm>
          <a:prstGeom prst="rect">
            <a:avLst/>
          </a:prstGeom>
          <a:noFill/>
          <a:ln/>
        </p:spPr>
        <p:txBody>
          <a:bodyPr wrap="square" lIns="0" tIns="0" rIns="0" bIns="0" rtlCol="0" anchor="t"/>
          <a:lstStyle/>
          <a:p>
            <a:pPr indent="0" marL="0">
              <a:buNone/>
            </a:pPr>
            <a:r>
              <a:rPr lang="en-US" sz="2200" b="1" dirty="0">
                <a:solidFill>
                  <a:schemeClr val="tx1"/>
                </a:solidFill>
              </a:rPr>
              <a:t>Put it online</a:t>
            </a:r>
            <a:endParaRPr lang="en-US" sz="2200" dirty="0"/>
          </a:p>
        </p:txBody>
      </p:sp>
      <p:sp>
        <p:nvSpPr>
          <p:cNvPr id="12" name="goal 2 body"/>
          <p:cNvSpPr txBox="1"/>
          <p:nvPr/>
        </p:nvSpPr>
        <p:spPr>
          <a:xfrm>
            <a:off x="4617720" y="3429000"/>
            <a:ext cx="2971800" cy="1188720"/>
          </a:xfrm>
          <a:prstGeom prst="rect">
            <a:avLst/>
          </a:prstGeom>
          <a:noFill/>
          <a:ln/>
        </p:spPr>
        <p:txBody>
          <a:bodyPr wrap="square" lIns="0" tIns="0" rIns="0" bIns="0" rtlCol="0" anchor="t"/>
          <a:lstStyle/>
          <a:p>
            <a:pPr indent="0" marL="0">
              <a:buNone/>
            </a:pPr>
            <a:r>
              <a:rPr lang="en-US" sz="1800" dirty="0">
                <a:solidFill>
                  <a:schemeClr val="tx2"/>
                </a:solidFill>
              </a:rPr>
              <a:t>Your app gets its own web link that anyone can open.</a:t>
            </a:r>
            <a:endParaRPr lang="en-US" sz="1800" dirty="0"/>
          </a:p>
        </p:txBody>
      </p:sp>
      <p:sp>
        <p:nvSpPr>
          <p:cNvPr id="13" name="goal 3 card"/>
          <p:cNvSpPr/>
          <p:nvPr/>
        </p:nvSpPr>
        <p:spPr>
          <a:xfrm>
            <a:off x="8138160" y="1737360"/>
            <a:ext cx="3520440" cy="3108960"/>
          </a:xfrm>
          <a:prstGeom prst="roundRect">
            <a:avLst>
              <a:gd name="adj" fmla="val 4412"/>
            </a:avLst>
          </a:prstGeom>
          <a:solidFill>
            <a:schemeClr val="bg2"/>
          </a:solidFill>
          <a:ln/>
        </p:spPr>
      </p:sp>
      <p:sp>
        <p:nvSpPr>
          <p:cNvPr id="14" name="goal 3 circle"/>
          <p:cNvSpPr/>
          <p:nvPr/>
        </p:nvSpPr>
        <p:spPr>
          <a:xfrm>
            <a:off x="8412480" y="2011680"/>
            <a:ext cx="731520" cy="731520"/>
          </a:xfrm>
          <a:prstGeom prst="ellipse">
            <a:avLst/>
          </a:prstGeom>
          <a:solidFill>
            <a:schemeClr val="accent1"/>
          </a:solidFill>
          <a:ln/>
        </p:spPr>
      </p:sp>
      <p:pic>
        <p:nvPicPr>
          <p:cNvPr id="15" name="goal 3 icon" descr="goal 3">    </p:cNvPr>
          <p:cNvPicPr>
            <a:picLocks noChangeAspect="1"/>
          </p:cNvPicPr>
          <p:nvPr/>
        </p:nvPicPr>
        <p:blipFill>
          <a:blip r:embed="rId3"/>
          <a:stretch>
            <a:fillRect/>
          </a:stretch>
        </p:blipFill>
        <p:spPr>
          <a:xfrm>
            <a:off x="8595360" y="2194560"/>
            <a:ext cx="365760" cy="365760"/>
          </a:xfrm>
          <a:prstGeom prst="rect">
            <a:avLst/>
          </a:prstGeom>
        </p:spPr>
      </p:pic>
      <p:sp>
        <p:nvSpPr>
          <p:cNvPr id="16" name="goal 3 head"/>
          <p:cNvSpPr txBox="1"/>
          <p:nvPr/>
        </p:nvSpPr>
        <p:spPr>
          <a:xfrm>
            <a:off x="8412480" y="2926080"/>
            <a:ext cx="2971800" cy="457200"/>
          </a:xfrm>
          <a:prstGeom prst="rect">
            <a:avLst/>
          </a:prstGeom>
          <a:noFill/>
          <a:ln/>
        </p:spPr>
        <p:txBody>
          <a:bodyPr wrap="square" lIns="0" tIns="0" rIns="0" bIns="0" rtlCol="0" anchor="t"/>
          <a:lstStyle/>
          <a:p>
            <a:pPr indent="0" marL="0">
              <a:buNone/>
            </a:pPr>
            <a:r>
              <a:rPr lang="en-US" sz="2200" b="1" dirty="0">
                <a:solidFill>
                  <a:schemeClr val="tx1"/>
                </a:solidFill>
              </a:rPr>
              <a:t>Get your own plan</a:t>
            </a:r>
            <a:endParaRPr lang="en-US" sz="2200" dirty="0"/>
          </a:p>
        </p:txBody>
      </p:sp>
      <p:sp>
        <p:nvSpPr>
          <p:cNvPr id="17" name="goal 3 body"/>
          <p:cNvSpPr txBox="1"/>
          <p:nvPr/>
        </p:nvSpPr>
        <p:spPr>
          <a:xfrm>
            <a:off x="8412480" y="3429000"/>
            <a:ext cx="2971800" cy="1188720"/>
          </a:xfrm>
          <a:prstGeom prst="rect">
            <a:avLst/>
          </a:prstGeom>
          <a:noFill/>
          <a:ln/>
        </p:spPr>
        <p:txBody>
          <a:bodyPr wrap="square" lIns="0" tIns="0" rIns="0" bIns="0" rtlCol="0" anchor="t"/>
          <a:lstStyle/>
          <a:p>
            <a:pPr indent="0" marL="0">
              <a:buNone/>
            </a:pPr>
            <a:r>
              <a:rPr lang="en-US" sz="1800" dirty="0">
                <a:solidFill>
                  <a:schemeClr val="tx2"/>
                </a:solidFill>
              </a:rPr>
              <a:t>The app makes a step-by-step plan for your tech career.</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What is the cloud?</a:t>
            </a:r>
            <a:endParaRPr lang="en-US" sz="3600" dirty="0"/>
          </a:p>
        </p:txBody>
      </p:sp>
      <p:sp>
        <p:nvSpPr>
          <p:cNvPr id="3" name="Text 1"/>
          <p:cNvSpPr txBox="1"/>
          <p:nvPr/>
        </p:nvSpPr>
        <p:spPr>
          <a:xfrm>
            <a:off x="548640" y="1463040"/>
            <a:ext cx="6583680" cy="1097280"/>
          </a:xfrm>
          <a:prstGeom prst="rect">
            <a:avLst/>
          </a:prstGeom>
          <a:noFill/>
          <a:ln/>
        </p:spPr>
        <p:txBody>
          <a:bodyPr wrap="square" lIns="0" tIns="0" rIns="0" bIns="0" rtlCol="0" anchor="t"/>
          <a:lstStyle/>
          <a:p>
            <a:pPr indent="0" marL="0">
              <a:buNone/>
            </a:pPr>
            <a:r>
              <a:rPr lang="en-US" sz="3000" b="1" dirty="0">
                <a:solidFill>
                  <a:schemeClr val="tx1"/>
                </a:solidFill>
              </a:rPr>
              <a:t>The cloud is computers you use over the internet.</a:t>
            </a:r>
            <a:endParaRPr lang="en-US" sz="3000" dirty="0"/>
          </a:p>
        </p:txBody>
      </p:sp>
      <p:sp>
        <p:nvSpPr>
          <p:cNvPr id="4" name="Text 2"/>
          <p:cNvSpPr txBox="1"/>
          <p:nvPr/>
        </p:nvSpPr>
        <p:spPr>
          <a:xfrm>
            <a:off x="548640" y="2743200"/>
            <a:ext cx="6583680" cy="27432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2"/>
                </a:solidFill>
              </a:rPr>
              <a:t>Companies like Amazon own huge buildings full of computers. These are called data centers.</a:t>
            </a:r>
            <a:endParaRPr lang="en-US" sz="2000" dirty="0"/>
          </a:p>
          <a:p>
            <a:pPr marL="342900" indent="-342900">
              <a:spcAft>
                <a:spcPts val="1200"/>
              </a:spcAft>
              <a:buSzPct val="100000"/>
              <a:buChar char="•"/>
            </a:pPr>
            <a:r>
              <a:rPr lang="en-US" sz="2000" dirty="0">
                <a:solidFill>
                  <a:schemeClr val="tx2"/>
                </a:solidFill>
              </a:rPr>
              <a:t>You can use their computers from your own laptop or phone.</a:t>
            </a:r>
            <a:endParaRPr lang="en-US" sz="2000" dirty="0"/>
          </a:p>
          <a:p>
            <a:pPr marL="342900" indent="-342900">
              <a:spcAft>
                <a:spcPts val="1200"/>
              </a:spcAft>
              <a:buSzPct val="100000"/>
              <a:buChar char="•"/>
            </a:pPr>
            <a:r>
              <a:rPr lang="en-US" sz="2000" dirty="0">
                <a:solidFill>
                  <a:schemeClr val="tx2"/>
                </a:solidFill>
              </a:rPr>
              <a:t>You only pay for what you use, like a phone plan.</a:t>
            </a:r>
            <a:endParaRPr lang="en-US" sz="2000" dirty="0"/>
          </a:p>
        </p:txBody>
      </p:sp>
      <p:sp>
        <p:nvSpPr>
          <p:cNvPr id="5" name="analogy card"/>
          <p:cNvSpPr/>
          <p:nvPr/>
        </p:nvSpPr>
        <p:spPr>
          <a:xfrm>
            <a:off x="7680960" y="1463040"/>
            <a:ext cx="3931920" cy="4206240"/>
          </a:xfrm>
          <a:prstGeom prst="roundRect">
            <a:avLst>
              <a:gd name="adj" fmla="val 3488"/>
            </a:avLst>
          </a:prstGeom>
          <a:solidFill>
            <a:schemeClr val="tx1"/>
          </a:solidFill>
          <a:ln/>
        </p:spPr>
      </p:sp>
      <p:sp>
        <p:nvSpPr>
          <p:cNvPr id="6" name="electricity circle"/>
          <p:cNvSpPr/>
          <p:nvPr/>
        </p:nvSpPr>
        <p:spPr>
          <a:xfrm>
            <a:off x="8046720" y="1828800"/>
            <a:ext cx="914400" cy="914400"/>
          </a:xfrm>
          <a:prstGeom prst="ellipse">
            <a:avLst/>
          </a:prstGeom>
          <a:solidFill>
            <a:schemeClr val="accent1"/>
          </a:solidFill>
          <a:ln/>
        </p:spPr>
      </p:sp>
      <p:pic>
        <p:nvPicPr>
          <p:cNvPr id="7" name="electricity icon" descr="electricity">    </p:cNvPr>
          <p:cNvPicPr>
            <a:picLocks noChangeAspect="1"/>
          </p:cNvPicPr>
          <p:nvPr/>
        </p:nvPicPr>
        <p:blipFill>
          <a:blip r:embed="rId1"/>
          <a:stretch>
            <a:fillRect/>
          </a:stretch>
        </p:blipFill>
        <p:spPr>
          <a:xfrm>
            <a:off x="8275320" y="2057400"/>
            <a:ext cx="457200" cy="457200"/>
          </a:xfrm>
          <a:prstGeom prst="rect">
            <a:avLst/>
          </a:prstGeom>
        </p:spPr>
      </p:pic>
      <p:sp>
        <p:nvSpPr>
          <p:cNvPr id="8" name="Text 5"/>
          <p:cNvSpPr txBox="1"/>
          <p:nvPr/>
        </p:nvSpPr>
        <p:spPr>
          <a:xfrm>
            <a:off x="8046720" y="2926080"/>
            <a:ext cx="3291840" cy="822960"/>
          </a:xfrm>
          <a:prstGeom prst="rect">
            <a:avLst/>
          </a:prstGeom>
          <a:noFill/>
          <a:ln/>
        </p:spPr>
        <p:txBody>
          <a:bodyPr wrap="square" lIns="0" tIns="0" rIns="0" bIns="0" rtlCol="0" anchor="t"/>
          <a:lstStyle/>
          <a:p>
            <a:pPr indent="0" marL="0">
              <a:buNone/>
            </a:pPr>
            <a:r>
              <a:rPr lang="en-US" sz="2200" b="1" dirty="0">
                <a:solidFill>
                  <a:schemeClr val="bg1"/>
                </a:solidFill>
              </a:rPr>
              <a:t>Think of it like electricity</a:t>
            </a:r>
            <a:endParaRPr lang="en-US" sz="2200" dirty="0"/>
          </a:p>
        </p:txBody>
      </p:sp>
      <p:sp>
        <p:nvSpPr>
          <p:cNvPr id="9" name="Text 6"/>
          <p:cNvSpPr txBox="1"/>
          <p:nvPr/>
        </p:nvSpPr>
        <p:spPr>
          <a:xfrm>
            <a:off x="8046720" y="3794760"/>
            <a:ext cx="3291840" cy="1737360"/>
          </a:xfrm>
          <a:prstGeom prst="rect">
            <a:avLst/>
          </a:prstGeom>
          <a:noFill/>
          <a:ln/>
        </p:spPr>
        <p:txBody>
          <a:bodyPr wrap="square" lIns="0" tIns="0" rIns="0" bIns="0" rtlCol="0" anchor="t"/>
          <a:lstStyle/>
          <a:p>
            <a:pPr indent="0" marL="0">
              <a:buNone/>
            </a:pPr>
            <a:r>
              <a:rPr lang="en-US" sz="1600" dirty="0">
                <a:solidFill>
                  <a:schemeClr val="bg1"/>
                </a:solidFill>
              </a:rPr>
              <a:t>You don't build a power plant at home. You plug in and pay for what you use. The cloud works the same way for computers.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You already use the cloud every day</a:t>
            </a:r>
            <a:endParaRPr lang="en-US" sz="3600" dirty="0"/>
          </a:p>
        </p:txBody>
      </p:sp>
      <p:sp>
        <p:nvSpPr>
          <p:cNvPr id="3" name="use 1 card"/>
          <p:cNvSpPr/>
          <p:nvPr/>
        </p:nvSpPr>
        <p:spPr>
          <a:xfrm>
            <a:off x="548640" y="1554480"/>
            <a:ext cx="2606040" cy="3291840"/>
          </a:xfrm>
          <a:prstGeom prst="roundRect">
            <a:avLst>
              <a:gd name="adj" fmla="val 5263"/>
            </a:avLst>
          </a:prstGeom>
          <a:solidFill>
            <a:schemeClr val="bg2"/>
          </a:solidFill>
          <a:ln/>
        </p:spPr>
      </p:sp>
      <p:sp>
        <p:nvSpPr>
          <p:cNvPr id="4" name="use 1 circle"/>
          <p:cNvSpPr/>
          <p:nvPr/>
        </p:nvSpPr>
        <p:spPr>
          <a:xfrm>
            <a:off x="822960" y="1828800"/>
            <a:ext cx="731520" cy="731520"/>
          </a:xfrm>
          <a:prstGeom prst="ellipse">
            <a:avLst/>
          </a:prstGeom>
          <a:solidFill>
            <a:schemeClr val="accent1"/>
          </a:solidFill>
          <a:ln/>
        </p:spPr>
      </p:sp>
      <p:pic>
        <p:nvPicPr>
          <p:cNvPr id="5" name="use 1 icon" descr="use 1">    </p:cNvPr>
          <p:cNvPicPr>
            <a:picLocks noChangeAspect="1"/>
          </p:cNvPicPr>
          <p:nvPr/>
        </p:nvPicPr>
        <p:blipFill>
          <a:blip r:embed="rId1"/>
          <a:stretch>
            <a:fillRect/>
          </a:stretch>
        </p:blipFill>
        <p:spPr>
          <a:xfrm>
            <a:off x="1005840" y="2011680"/>
            <a:ext cx="365760" cy="365760"/>
          </a:xfrm>
          <a:prstGeom prst="rect">
            <a:avLst/>
          </a:prstGeom>
        </p:spPr>
      </p:pic>
      <p:sp>
        <p:nvSpPr>
          <p:cNvPr id="6" name="use 1 head"/>
          <p:cNvSpPr txBox="1"/>
          <p:nvPr/>
        </p:nvSpPr>
        <p:spPr>
          <a:xfrm>
            <a:off x="82296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Streaming</a:t>
            </a:r>
            <a:endParaRPr lang="en-US" sz="2000" dirty="0"/>
          </a:p>
        </p:txBody>
      </p:sp>
      <p:sp>
        <p:nvSpPr>
          <p:cNvPr id="7" name="use 1 body"/>
          <p:cNvSpPr txBox="1"/>
          <p:nvPr/>
        </p:nvSpPr>
        <p:spPr>
          <a:xfrm>
            <a:off x="822960" y="3246120"/>
            <a:ext cx="2057400" cy="1371600"/>
          </a:xfrm>
          <a:prstGeom prst="rect">
            <a:avLst/>
          </a:prstGeom>
          <a:noFill/>
          <a:ln/>
        </p:spPr>
        <p:txBody>
          <a:bodyPr wrap="square" lIns="0" tIns="0" rIns="0" bIns="0" rtlCol="0" anchor="t"/>
          <a:lstStyle/>
          <a:p>
            <a:pPr indent="0" marL="0">
              <a:buNone/>
            </a:pPr>
            <a:r>
              <a:rPr lang="en-US" sz="1700" dirty="0">
                <a:solidFill>
                  <a:schemeClr val="tx2"/>
                </a:solidFill>
              </a:rPr>
              <a:t>Shows and music play from the cloud, not your phone.</a:t>
            </a:r>
            <a:endParaRPr lang="en-US" sz="1700" dirty="0"/>
          </a:p>
        </p:txBody>
      </p:sp>
      <p:sp>
        <p:nvSpPr>
          <p:cNvPr id="8" name="use 2 card"/>
          <p:cNvSpPr/>
          <p:nvPr/>
        </p:nvSpPr>
        <p:spPr>
          <a:xfrm>
            <a:off x="3383280" y="1554480"/>
            <a:ext cx="2606040" cy="3291840"/>
          </a:xfrm>
          <a:prstGeom prst="roundRect">
            <a:avLst>
              <a:gd name="adj" fmla="val 5263"/>
            </a:avLst>
          </a:prstGeom>
          <a:solidFill>
            <a:schemeClr val="bg2"/>
          </a:solidFill>
          <a:ln/>
        </p:spPr>
      </p:sp>
      <p:sp>
        <p:nvSpPr>
          <p:cNvPr id="9" name="use 2 circle"/>
          <p:cNvSpPr/>
          <p:nvPr/>
        </p:nvSpPr>
        <p:spPr>
          <a:xfrm>
            <a:off x="3657600" y="1828800"/>
            <a:ext cx="731520" cy="731520"/>
          </a:xfrm>
          <a:prstGeom prst="ellipse">
            <a:avLst/>
          </a:prstGeom>
          <a:solidFill>
            <a:schemeClr val="accent1"/>
          </a:solidFill>
          <a:ln/>
        </p:spPr>
      </p:sp>
      <p:pic>
        <p:nvPicPr>
          <p:cNvPr id="10" name="use 2 icon" descr="use 2">    </p:cNvPr>
          <p:cNvPicPr>
            <a:picLocks noChangeAspect="1"/>
          </p:cNvPicPr>
          <p:nvPr/>
        </p:nvPicPr>
        <p:blipFill>
          <a:blip r:embed="rId2"/>
          <a:stretch>
            <a:fillRect/>
          </a:stretch>
        </p:blipFill>
        <p:spPr>
          <a:xfrm>
            <a:off x="3840480" y="2011680"/>
            <a:ext cx="365760" cy="365760"/>
          </a:xfrm>
          <a:prstGeom prst="rect">
            <a:avLst/>
          </a:prstGeom>
        </p:spPr>
      </p:pic>
      <p:sp>
        <p:nvSpPr>
          <p:cNvPr id="11" name="use 2 head"/>
          <p:cNvSpPr txBox="1"/>
          <p:nvPr/>
        </p:nvSpPr>
        <p:spPr>
          <a:xfrm>
            <a:off x="365760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Photo backup</a:t>
            </a:r>
            <a:endParaRPr lang="en-US" sz="2000" dirty="0"/>
          </a:p>
        </p:txBody>
      </p:sp>
      <p:sp>
        <p:nvSpPr>
          <p:cNvPr id="12" name="use 2 body"/>
          <p:cNvSpPr txBox="1"/>
          <p:nvPr/>
        </p:nvSpPr>
        <p:spPr>
          <a:xfrm>
            <a:off x="3657600" y="3246120"/>
            <a:ext cx="2057400" cy="1371600"/>
          </a:xfrm>
          <a:prstGeom prst="rect">
            <a:avLst/>
          </a:prstGeom>
          <a:noFill/>
          <a:ln/>
        </p:spPr>
        <p:txBody>
          <a:bodyPr wrap="square" lIns="0" tIns="0" rIns="0" bIns="0" rtlCol="0" anchor="t"/>
          <a:lstStyle/>
          <a:p>
            <a:pPr indent="0" marL="0">
              <a:buNone/>
            </a:pPr>
            <a:r>
              <a:rPr lang="en-US" sz="1700" dirty="0">
                <a:solidFill>
                  <a:schemeClr val="tx2"/>
                </a:solidFill>
              </a:rPr>
              <a:t>Your pictures are saved online so you don't lose them.</a:t>
            </a:r>
            <a:endParaRPr lang="en-US" sz="1700" dirty="0"/>
          </a:p>
        </p:txBody>
      </p:sp>
      <p:sp>
        <p:nvSpPr>
          <p:cNvPr id="13" name="use 3 card"/>
          <p:cNvSpPr/>
          <p:nvPr/>
        </p:nvSpPr>
        <p:spPr>
          <a:xfrm>
            <a:off x="6217920" y="1554480"/>
            <a:ext cx="2606040" cy="3291840"/>
          </a:xfrm>
          <a:prstGeom prst="roundRect">
            <a:avLst>
              <a:gd name="adj" fmla="val 5263"/>
            </a:avLst>
          </a:prstGeom>
          <a:solidFill>
            <a:schemeClr val="bg2"/>
          </a:solidFill>
          <a:ln/>
        </p:spPr>
      </p:sp>
      <p:sp>
        <p:nvSpPr>
          <p:cNvPr id="14" name="use 3 circle"/>
          <p:cNvSpPr/>
          <p:nvPr/>
        </p:nvSpPr>
        <p:spPr>
          <a:xfrm>
            <a:off x="6492240" y="1828800"/>
            <a:ext cx="731520" cy="731520"/>
          </a:xfrm>
          <a:prstGeom prst="ellipse">
            <a:avLst/>
          </a:prstGeom>
          <a:solidFill>
            <a:schemeClr val="accent1"/>
          </a:solidFill>
          <a:ln/>
        </p:spPr>
      </p:sp>
      <p:pic>
        <p:nvPicPr>
          <p:cNvPr id="15" name="use 3 icon" descr="use 3">    </p:cNvPr>
          <p:cNvPicPr>
            <a:picLocks noChangeAspect="1"/>
          </p:cNvPicPr>
          <p:nvPr/>
        </p:nvPicPr>
        <p:blipFill>
          <a:blip r:embed="rId3"/>
          <a:stretch>
            <a:fillRect/>
          </a:stretch>
        </p:blipFill>
        <p:spPr>
          <a:xfrm>
            <a:off x="6675120" y="2011680"/>
            <a:ext cx="365760" cy="365760"/>
          </a:xfrm>
          <a:prstGeom prst="rect">
            <a:avLst/>
          </a:prstGeom>
        </p:spPr>
      </p:pic>
      <p:sp>
        <p:nvSpPr>
          <p:cNvPr id="16" name="use 3 head"/>
          <p:cNvSpPr txBox="1"/>
          <p:nvPr/>
        </p:nvSpPr>
        <p:spPr>
          <a:xfrm>
            <a:off x="649224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Email</a:t>
            </a:r>
            <a:endParaRPr lang="en-US" sz="2000" dirty="0"/>
          </a:p>
        </p:txBody>
      </p:sp>
      <p:sp>
        <p:nvSpPr>
          <p:cNvPr id="17" name="use 3 body"/>
          <p:cNvSpPr txBox="1"/>
          <p:nvPr/>
        </p:nvSpPr>
        <p:spPr>
          <a:xfrm>
            <a:off x="6492240" y="3246120"/>
            <a:ext cx="2057400" cy="1371600"/>
          </a:xfrm>
          <a:prstGeom prst="rect">
            <a:avLst/>
          </a:prstGeom>
          <a:noFill/>
          <a:ln/>
        </p:spPr>
        <p:txBody>
          <a:bodyPr wrap="square" lIns="0" tIns="0" rIns="0" bIns="0" rtlCol="0" anchor="t"/>
          <a:lstStyle/>
          <a:p>
            <a:pPr indent="0" marL="0">
              <a:buNone/>
            </a:pPr>
            <a:r>
              <a:rPr lang="en-US" sz="1700" dirty="0">
                <a:solidFill>
                  <a:schemeClr val="tx2"/>
                </a:solidFill>
              </a:rPr>
              <a:t>Your messages live online. You can read them anywhere.</a:t>
            </a:r>
            <a:endParaRPr lang="en-US" sz="1700" dirty="0"/>
          </a:p>
        </p:txBody>
      </p:sp>
      <p:sp>
        <p:nvSpPr>
          <p:cNvPr id="18" name="use 4 card"/>
          <p:cNvSpPr/>
          <p:nvPr/>
        </p:nvSpPr>
        <p:spPr>
          <a:xfrm>
            <a:off x="9052560" y="1554480"/>
            <a:ext cx="2606040" cy="3291840"/>
          </a:xfrm>
          <a:prstGeom prst="roundRect">
            <a:avLst>
              <a:gd name="adj" fmla="val 5263"/>
            </a:avLst>
          </a:prstGeom>
          <a:solidFill>
            <a:schemeClr val="bg2"/>
          </a:solidFill>
          <a:ln/>
        </p:spPr>
      </p:sp>
      <p:sp>
        <p:nvSpPr>
          <p:cNvPr id="19" name="use 4 circle"/>
          <p:cNvSpPr/>
          <p:nvPr/>
        </p:nvSpPr>
        <p:spPr>
          <a:xfrm>
            <a:off x="9326880" y="1828800"/>
            <a:ext cx="731520" cy="731520"/>
          </a:xfrm>
          <a:prstGeom prst="ellipse">
            <a:avLst/>
          </a:prstGeom>
          <a:solidFill>
            <a:schemeClr val="accent1"/>
          </a:solidFill>
          <a:ln/>
        </p:spPr>
      </p:sp>
      <p:pic>
        <p:nvPicPr>
          <p:cNvPr id="20" name="use 4 icon" descr="use 4">    </p:cNvPr>
          <p:cNvPicPr>
            <a:picLocks noChangeAspect="1"/>
          </p:cNvPicPr>
          <p:nvPr/>
        </p:nvPicPr>
        <p:blipFill>
          <a:blip r:embed="rId4"/>
          <a:stretch>
            <a:fillRect/>
          </a:stretch>
        </p:blipFill>
        <p:spPr>
          <a:xfrm>
            <a:off x="9509760" y="2011680"/>
            <a:ext cx="365760" cy="365760"/>
          </a:xfrm>
          <a:prstGeom prst="rect">
            <a:avLst/>
          </a:prstGeom>
        </p:spPr>
      </p:pic>
      <p:sp>
        <p:nvSpPr>
          <p:cNvPr id="21" name="use 4 head"/>
          <p:cNvSpPr txBox="1"/>
          <p:nvPr/>
        </p:nvSpPr>
        <p:spPr>
          <a:xfrm>
            <a:off x="932688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Group chats</a:t>
            </a:r>
            <a:endParaRPr lang="en-US" sz="2000" dirty="0"/>
          </a:p>
        </p:txBody>
      </p:sp>
      <p:sp>
        <p:nvSpPr>
          <p:cNvPr id="22" name="use 4 body"/>
          <p:cNvSpPr txBox="1"/>
          <p:nvPr/>
        </p:nvSpPr>
        <p:spPr>
          <a:xfrm>
            <a:off x="9326880" y="3246120"/>
            <a:ext cx="2057400" cy="1371600"/>
          </a:xfrm>
          <a:prstGeom prst="rect">
            <a:avLst/>
          </a:prstGeom>
          <a:noFill/>
          <a:ln/>
        </p:spPr>
        <p:txBody>
          <a:bodyPr wrap="square" lIns="0" tIns="0" rIns="0" bIns="0" rtlCol="0" anchor="t"/>
          <a:lstStyle/>
          <a:p>
            <a:pPr indent="0" marL="0">
              <a:buNone/>
            </a:pPr>
            <a:r>
              <a:rPr lang="en-US" sz="1700" dirty="0">
                <a:solidFill>
                  <a:schemeClr val="tx2"/>
                </a:solidFill>
              </a:rPr>
              <a:t>Messages travel through the cloud to your friends.</a:t>
            </a:r>
            <a:endParaRPr lang="en-US" sz="1700" dirty="0"/>
          </a:p>
        </p:txBody>
      </p:sp>
      <p:sp>
        <p:nvSpPr>
          <p:cNvPr id="23" name="Text 17"/>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1800" i="1" dirty="0">
                <a:solidFill>
                  <a:schemeClr val="tx2"/>
                </a:solidFill>
              </a:rPr>
              <a:t>If it works on any device after you log in, it probably lives in the cloud.</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What is AI?</a:t>
            </a:r>
            <a:endParaRPr lang="en-US" sz="3600" dirty="0"/>
          </a:p>
        </p:txBody>
      </p:sp>
      <p:sp>
        <p:nvSpPr>
          <p:cNvPr id="3" name="AI circle"/>
          <p:cNvSpPr/>
          <p:nvPr/>
        </p:nvSpPr>
        <p:spPr>
          <a:xfrm>
            <a:off x="548640" y="1554480"/>
            <a:ext cx="1005840" cy="1005840"/>
          </a:xfrm>
          <a:prstGeom prst="ellipse">
            <a:avLst/>
          </a:prstGeom>
          <a:solidFill>
            <a:schemeClr val="accent1"/>
          </a:solidFill>
          <a:ln/>
        </p:spPr>
      </p:sp>
      <p:pic>
        <p:nvPicPr>
          <p:cNvPr id="4" name="AI icon" descr="AI">    </p:cNvPr>
          <p:cNvPicPr>
            <a:picLocks noChangeAspect="1"/>
          </p:cNvPicPr>
          <p:nvPr/>
        </p:nvPicPr>
        <p:blipFill>
          <a:blip r:embed="rId1"/>
          <a:stretch>
            <a:fillRect/>
          </a:stretch>
        </p:blipFill>
        <p:spPr>
          <a:xfrm>
            <a:off x="800100" y="1805940"/>
            <a:ext cx="502920" cy="502920"/>
          </a:xfrm>
          <a:prstGeom prst="rect">
            <a:avLst/>
          </a:prstGeom>
        </p:spPr>
      </p:pic>
      <p:sp>
        <p:nvSpPr>
          <p:cNvPr id="5" name="Text 2"/>
          <p:cNvSpPr txBox="1"/>
          <p:nvPr/>
        </p:nvSpPr>
        <p:spPr>
          <a:xfrm>
            <a:off x="1828800" y="1554480"/>
            <a:ext cx="9692640" cy="1005840"/>
          </a:xfrm>
          <a:prstGeom prst="rect">
            <a:avLst/>
          </a:prstGeom>
          <a:noFill/>
          <a:ln/>
        </p:spPr>
        <p:txBody>
          <a:bodyPr wrap="square" lIns="0" tIns="0" rIns="0" bIns="0" rtlCol="0" anchor="ctr"/>
          <a:lstStyle/>
          <a:p>
            <a:pPr indent="0" marL="0">
              <a:buNone/>
            </a:pPr>
            <a:r>
              <a:rPr lang="en-US" sz="2600" b="1" dirty="0">
                <a:solidFill>
                  <a:schemeClr val="tx1"/>
                </a:solidFill>
              </a:rPr>
              <a:t>AI (artificial intelligence) is software that learns from lots of examples.</a:t>
            </a:r>
            <a:endParaRPr lang="en-US" sz="2600" dirty="0"/>
          </a:p>
        </p:txBody>
      </p:sp>
      <p:sp>
        <p:nvSpPr>
          <p:cNvPr id="6" name="ai card 1"/>
          <p:cNvSpPr/>
          <p:nvPr/>
        </p:nvSpPr>
        <p:spPr>
          <a:xfrm>
            <a:off x="548640" y="3017520"/>
            <a:ext cx="3520440" cy="2743200"/>
          </a:xfrm>
          <a:prstGeom prst="roundRect">
            <a:avLst>
              <a:gd name="adj" fmla="val 5000"/>
            </a:avLst>
          </a:prstGeom>
          <a:solidFill>
            <a:schemeClr val="bg2"/>
          </a:solidFill>
          <a:ln/>
        </p:spPr>
      </p:sp>
      <p:sp>
        <p:nvSpPr>
          <p:cNvPr id="7" name="Text 4"/>
          <p:cNvSpPr txBox="1"/>
          <p:nvPr/>
        </p:nvSpPr>
        <p:spPr>
          <a:xfrm>
            <a:off x="822960" y="3246120"/>
            <a:ext cx="2971800" cy="822960"/>
          </a:xfrm>
          <a:prstGeom prst="rect">
            <a:avLst/>
          </a:prstGeom>
          <a:noFill/>
          <a:ln/>
        </p:spPr>
        <p:txBody>
          <a:bodyPr wrap="square" lIns="0" tIns="0" rIns="0" bIns="0" rtlCol="0" anchor="t"/>
          <a:lstStyle/>
          <a:p>
            <a:pPr indent="0" marL="0">
              <a:buNone/>
            </a:pPr>
            <a:r>
              <a:rPr lang="en-US" sz="2000" b="1" dirty="0">
                <a:solidFill>
                  <a:schemeClr val="tx1"/>
                </a:solidFill>
              </a:rPr>
              <a:t>Generative AI makes new things</a:t>
            </a:r>
            <a:endParaRPr lang="en-US" sz="2000" dirty="0"/>
          </a:p>
        </p:txBody>
      </p:sp>
      <p:sp>
        <p:nvSpPr>
          <p:cNvPr id="8" name="Text 5"/>
          <p:cNvSpPr txBox="1"/>
          <p:nvPr/>
        </p:nvSpPr>
        <p:spPr>
          <a:xfrm>
            <a:off x="822960" y="4114800"/>
            <a:ext cx="2971800" cy="1463040"/>
          </a:xfrm>
          <a:prstGeom prst="rect">
            <a:avLst/>
          </a:prstGeom>
          <a:noFill/>
          <a:ln/>
        </p:spPr>
        <p:txBody>
          <a:bodyPr wrap="square" lIns="0" tIns="0" rIns="0" bIns="0" rtlCol="0" anchor="t"/>
          <a:lstStyle/>
          <a:p>
            <a:pPr indent="0" marL="0">
              <a:buNone/>
            </a:pPr>
            <a:r>
              <a:rPr lang="en-US" sz="1600" dirty="0">
                <a:solidFill>
                  <a:schemeClr val="tx2"/>
                </a:solidFill>
              </a:rPr>
              <a:t>It can write, draw, and plan. You ask in plain words. It answers.</a:t>
            </a:r>
            <a:endParaRPr lang="en-US" sz="1600" dirty="0"/>
          </a:p>
        </p:txBody>
      </p:sp>
      <p:sp>
        <p:nvSpPr>
          <p:cNvPr id="9" name="ai card 2"/>
          <p:cNvSpPr/>
          <p:nvPr/>
        </p:nvSpPr>
        <p:spPr>
          <a:xfrm>
            <a:off x="4343400" y="3017520"/>
            <a:ext cx="3520440" cy="2743200"/>
          </a:xfrm>
          <a:prstGeom prst="roundRect">
            <a:avLst>
              <a:gd name="adj" fmla="val 5000"/>
            </a:avLst>
          </a:prstGeom>
          <a:solidFill>
            <a:schemeClr val="bg2"/>
          </a:solidFill>
          <a:ln/>
        </p:spPr>
      </p:sp>
      <p:sp>
        <p:nvSpPr>
          <p:cNvPr id="10" name="Text 7"/>
          <p:cNvSpPr txBox="1"/>
          <p:nvPr/>
        </p:nvSpPr>
        <p:spPr>
          <a:xfrm>
            <a:off x="4617720" y="3246120"/>
            <a:ext cx="2971800" cy="822960"/>
          </a:xfrm>
          <a:prstGeom prst="rect">
            <a:avLst/>
          </a:prstGeom>
          <a:noFill/>
          <a:ln/>
        </p:spPr>
        <p:txBody>
          <a:bodyPr wrap="square" lIns="0" tIns="0" rIns="0" bIns="0" rtlCol="0" anchor="t"/>
          <a:lstStyle/>
          <a:p>
            <a:pPr indent="0" marL="0">
              <a:buNone/>
            </a:pPr>
            <a:r>
              <a:rPr lang="en-US" sz="2000" b="1" dirty="0">
                <a:solidFill>
                  <a:schemeClr val="tx1"/>
                </a:solidFill>
              </a:rPr>
              <a:t>We don't build the AI "brain"</a:t>
            </a:r>
            <a:endParaRPr lang="en-US" sz="2000" dirty="0"/>
          </a:p>
        </p:txBody>
      </p:sp>
      <p:sp>
        <p:nvSpPr>
          <p:cNvPr id="11" name="Text 8"/>
          <p:cNvSpPr txBox="1"/>
          <p:nvPr/>
        </p:nvSpPr>
        <p:spPr>
          <a:xfrm>
            <a:off x="4617720" y="4114800"/>
            <a:ext cx="2971800" cy="1463040"/>
          </a:xfrm>
          <a:prstGeom prst="rect">
            <a:avLst/>
          </a:prstGeom>
          <a:noFill/>
          <a:ln/>
        </p:spPr>
        <p:txBody>
          <a:bodyPr wrap="square" lIns="0" tIns="0" rIns="0" bIns="0" rtlCol="0" anchor="t"/>
          <a:lstStyle/>
          <a:p>
            <a:pPr indent="0" marL="0">
              <a:buNone/>
            </a:pPr>
            <a:r>
              <a:rPr lang="en-US" sz="1600" dirty="0">
                <a:solidFill>
                  <a:schemeClr val="tx2"/>
                </a:solidFill>
              </a:rPr>
              <a:t>That takes huge amounts of data and money. Big companies have already done it.</a:t>
            </a:r>
            <a:endParaRPr lang="en-US" sz="1600" dirty="0"/>
          </a:p>
        </p:txBody>
      </p:sp>
      <p:sp>
        <p:nvSpPr>
          <p:cNvPr id="12" name="ai card 3"/>
          <p:cNvSpPr/>
          <p:nvPr/>
        </p:nvSpPr>
        <p:spPr>
          <a:xfrm>
            <a:off x="8138160" y="3017520"/>
            <a:ext cx="3520440" cy="2743200"/>
          </a:xfrm>
          <a:prstGeom prst="roundRect">
            <a:avLst>
              <a:gd name="adj" fmla="val 5000"/>
            </a:avLst>
          </a:prstGeom>
          <a:solidFill>
            <a:schemeClr val="bg2"/>
          </a:solidFill>
          <a:ln/>
        </p:spPr>
      </p:sp>
      <p:sp>
        <p:nvSpPr>
          <p:cNvPr id="13" name="Text 10"/>
          <p:cNvSpPr txBox="1"/>
          <p:nvPr/>
        </p:nvSpPr>
        <p:spPr>
          <a:xfrm>
            <a:off x="8412480" y="3246120"/>
            <a:ext cx="2971800" cy="822960"/>
          </a:xfrm>
          <a:prstGeom prst="rect">
            <a:avLst/>
          </a:prstGeom>
          <a:noFill/>
          <a:ln/>
        </p:spPr>
        <p:txBody>
          <a:bodyPr wrap="square" lIns="0" tIns="0" rIns="0" bIns="0" rtlCol="0" anchor="t"/>
          <a:lstStyle/>
          <a:p>
            <a:pPr indent="0" marL="0">
              <a:buNone/>
            </a:pPr>
            <a:r>
              <a:rPr lang="en-US" sz="2000" b="1" dirty="0">
                <a:solidFill>
                  <a:schemeClr val="tx1"/>
                </a:solidFill>
              </a:rPr>
              <a:t>We connect to it</a:t>
            </a:r>
            <a:endParaRPr lang="en-US" sz="2000" dirty="0"/>
          </a:p>
        </p:txBody>
      </p:sp>
      <p:sp>
        <p:nvSpPr>
          <p:cNvPr id="14" name="Text 11"/>
          <p:cNvSpPr txBox="1"/>
          <p:nvPr/>
        </p:nvSpPr>
        <p:spPr>
          <a:xfrm>
            <a:off x="8412480" y="4114800"/>
            <a:ext cx="2971800" cy="1463040"/>
          </a:xfrm>
          <a:prstGeom prst="rect">
            <a:avLst/>
          </a:prstGeom>
          <a:noFill/>
          <a:ln/>
        </p:spPr>
        <p:txBody>
          <a:bodyPr wrap="square" lIns="0" tIns="0" rIns="0" bIns="0" rtlCol="0" anchor="t"/>
          <a:lstStyle/>
          <a:p>
            <a:pPr indent="0" marL="0">
              <a:buNone/>
            </a:pPr>
            <a:r>
              <a:rPr lang="en-US" sz="1600" dirty="0">
                <a:solidFill>
                  <a:schemeClr val="tx2"/>
                </a:solidFill>
              </a:rPr>
              <a:t>Our app sends the AI a question and shows you its answer. That's a real skill companies need.</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Our project: AI STEM Career Navigator</a:t>
            </a:r>
            <a:endParaRPr lang="en-US" sz="3600" dirty="0"/>
          </a:p>
        </p:txBody>
      </p:sp>
      <p:sp>
        <p:nvSpPr>
          <p:cNvPr id="3" name="input card"/>
          <p:cNvSpPr/>
          <p:nvPr/>
        </p:nvSpPr>
        <p:spPr>
          <a:xfrm>
            <a:off x="548640" y="1463040"/>
            <a:ext cx="4937760" cy="3840480"/>
          </a:xfrm>
          <a:prstGeom prst="roundRect">
            <a:avLst>
              <a:gd name="adj" fmla="val 3571"/>
            </a:avLst>
          </a:prstGeom>
          <a:solidFill>
            <a:schemeClr val="bg2"/>
          </a:solidFill>
          <a:ln/>
        </p:spPr>
      </p:sp>
      <p:sp>
        <p:nvSpPr>
          <p:cNvPr id="4" name="Text 2"/>
          <p:cNvSpPr txBox="1"/>
          <p:nvPr/>
        </p:nvSpPr>
        <p:spPr>
          <a:xfrm>
            <a:off x="868680" y="1691640"/>
            <a:ext cx="4297680" cy="548640"/>
          </a:xfrm>
          <a:prstGeom prst="rect">
            <a:avLst/>
          </a:prstGeom>
          <a:noFill/>
          <a:ln/>
        </p:spPr>
        <p:txBody>
          <a:bodyPr wrap="square" lIns="0" tIns="0" rIns="0" bIns="0" rtlCol="0" anchor="t"/>
          <a:lstStyle/>
          <a:p>
            <a:pPr indent="0" marL="0">
              <a:buNone/>
            </a:pPr>
            <a:r>
              <a:rPr lang="en-US" sz="2400" b="1" dirty="0">
                <a:solidFill>
                  <a:schemeClr val="tx1"/>
                </a:solidFill>
              </a:rPr>
              <a:t>You tell it</a:t>
            </a:r>
            <a:endParaRPr lang="en-US" sz="2400" dirty="0"/>
          </a:p>
        </p:txBody>
      </p:sp>
      <p:sp>
        <p:nvSpPr>
          <p:cNvPr id="5" name="Text 3"/>
          <p:cNvSpPr txBox="1"/>
          <p:nvPr/>
        </p:nvSpPr>
        <p:spPr>
          <a:xfrm>
            <a:off x="868680" y="2377440"/>
            <a:ext cx="4389120" cy="32918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The tech job you want</a:t>
            </a:r>
            <a:endParaRPr lang="en-US" sz="2000" dirty="0"/>
          </a:p>
          <a:p>
            <a:pPr marL="342900" indent="-342900">
              <a:spcAft>
                <a:spcPts val="1400"/>
              </a:spcAft>
              <a:buSzPct val="100000"/>
              <a:buChar char="•"/>
            </a:pPr>
            <a:r>
              <a:rPr lang="en-US" sz="2000" dirty="0">
                <a:solidFill>
                  <a:schemeClr val="tx1"/>
                </a:solidFill>
              </a:rPr>
              <a:t>Your experience so far</a:t>
            </a:r>
            <a:endParaRPr lang="en-US" sz="2000" dirty="0"/>
          </a:p>
          <a:p>
            <a:pPr marL="342900" indent="-342900">
              <a:spcAft>
                <a:spcPts val="1400"/>
              </a:spcAft>
              <a:buSzPct val="100000"/>
              <a:buChar char="•"/>
            </a:pPr>
            <a:r>
              <a:rPr lang="en-US" sz="2000" dirty="0">
                <a:solidFill>
                  <a:schemeClr val="tx1"/>
                </a:solidFill>
              </a:rPr>
              <a:t>What you're interested in</a:t>
            </a:r>
            <a:endParaRPr lang="en-US" sz="2000" dirty="0"/>
          </a:p>
          <a:p>
            <a:pPr marL="342900" indent="-342900">
              <a:spcAft>
                <a:spcPts val="1400"/>
              </a:spcAft>
              <a:buSzPct val="100000"/>
              <a:buChar char="•"/>
            </a:pPr>
            <a:r>
              <a:rPr lang="en-US" sz="2000" dirty="0">
                <a:solidFill>
                  <a:schemeClr val="tx1"/>
                </a:solidFill>
              </a:rPr>
              <a:t>How many hours a week you can study</a:t>
            </a:r>
            <a:endParaRPr lang="en-US" sz="2000" dirty="0"/>
          </a:p>
        </p:txBody>
      </p:sp>
      <p:pic>
        <p:nvPicPr>
          <p:cNvPr id="6" name="arrow" descr="becomes">    </p:cNvPr>
          <p:cNvPicPr>
            <a:picLocks noChangeAspect="1"/>
          </p:cNvPicPr>
          <p:nvPr/>
        </p:nvPicPr>
        <p:blipFill>
          <a:blip r:embed="rId1"/>
          <a:stretch>
            <a:fillRect/>
          </a:stretch>
        </p:blipFill>
        <p:spPr>
          <a:xfrm>
            <a:off x="5733288" y="3017520"/>
            <a:ext cx="731520" cy="731520"/>
          </a:xfrm>
          <a:prstGeom prst="rect">
            <a:avLst/>
          </a:prstGeom>
        </p:spPr>
      </p:pic>
      <p:sp>
        <p:nvSpPr>
          <p:cNvPr id="7" name="output card"/>
          <p:cNvSpPr/>
          <p:nvPr/>
        </p:nvSpPr>
        <p:spPr>
          <a:xfrm>
            <a:off x="6675120" y="1463040"/>
            <a:ext cx="4937760" cy="3840480"/>
          </a:xfrm>
          <a:prstGeom prst="roundRect">
            <a:avLst>
              <a:gd name="adj" fmla="val 3571"/>
            </a:avLst>
          </a:prstGeom>
          <a:solidFill>
            <a:schemeClr val="tx1"/>
          </a:solidFill>
          <a:ln/>
        </p:spPr>
      </p:sp>
      <p:sp>
        <p:nvSpPr>
          <p:cNvPr id="8" name="Text 5"/>
          <p:cNvSpPr txBox="1"/>
          <p:nvPr/>
        </p:nvSpPr>
        <p:spPr>
          <a:xfrm>
            <a:off x="6995160" y="1691640"/>
            <a:ext cx="4297680" cy="548640"/>
          </a:xfrm>
          <a:prstGeom prst="rect">
            <a:avLst/>
          </a:prstGeom>
          <a:noFill/>
          <a:ln/>
        </p:spPr>
        <p:txBody>
          <a:bodyPr wrap="square" lIns="0" tIns="0" rIns="0" bIns="0" rtlCol="0" anchor="t"/>
          <a:lstStyle/>
          <a:p>
            <a:pPr indent="0" marL="0">
              <a:buNone/>
            </a:pPr>
            <a:r>
              <a:rPr lang="en-US" sz="2400" b="1" dirty="0">
                <a:solidFill>
                  <a:schemeClr val="accent1"/>
                </a:solidFill>
              </a:rPr>
              <a:t>AI gives you</a:t>
            </a:r>
            <a:endParaRPr lang="en-US" sz="2400" dirty="0"/>
          </a:p>
        </p:txBody>
      </p:sp>
      <p:sp>
        <p:nvSpPr>
          <p:cNvPr id="9" name="Text 6"/>
          <p:cNvSpPr txBox="1"/>
          <p:nvPr/>
        </p:nvSpPr>
        <p:spPr>
          <a:xfrm>
            <a:off x="6995160" y="2377440"/>
            <a:ext cx="4389120" cy="32918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Skills to learn, in order</a:t>
            </a:r>
            <a:endParaRPr lang="en-US" sz="2000" dirty="0"/>
          </a:p>
          <a:p>
            <a:pPr marL="342900" indent="-342900">
              <a:spcAft>
                <a:spcPts val="1400"/>
              </a:spcAft>
              <a:buSzPct val="100000"/>
              <a:buChar char="•"/>
            </a:pPr>
            <a:r>
              <a:rPr lang="en-US" sz="2000" dirty="0">
                <a:solidFill>
                  <a:schemeClr val="bg1"/>
                </a:solidFill>
              </a:rPr>
              <a:t>Certifications to earn</a:t>
            </a:r>
            <a:endParaRPr lang="en-US" sz="2000" dirty="0"/>
          </a:p>
          <a:p>
            <a:pPr marL="342900" indent="-342900">
              <a:spcAft>
                <a:spcPts val="1400"/>
              </a:spcAft>
              <a:buSzPct val="100000"/>
              <a:buChar char="•"/>
            </a:pPr>
            <a:r>
              <a:rPr lang="en-US" sz="2000" dirty="0">
                <a:solidFill>
                  <a:schemeClr val="bg1"/>
                </a:solidFill>
              </a:rPr>
              <a:t>Projects to build</a:t>
            </a:r>
            <a:endParaRPr lang="en-US" sz="2000" dirty="0"/>
          </a:p>
          <a:p>
            <a:pPr marL="342900" indent="-342900">
              <a:spcAft>
                <a:spcPts val="1400"/>
              </a:spcAft>
              <a:buSzPct val="100000"/>
              <a:buChar char="•"/>
            </a:pPr>
            <a:r>
              <a:rPr lang="en-US" sz="2000" dirty="0">
                <a:solidFill>
                  <a:schemeClr val="bg1"/>
                </a:solidFill>
              </a:rPr>
              <a:t>A 90-day plan made for you</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Why we built this</a:t>
            </a:r>
            <a:endParaRPr lang="en-US" sz="3600" dirty="0"/>
          </a:p>
        </p:txBody>
      </p:sp>
      <p:sp>
        <p:nvSpPr>
          <p:cNvPr id="3" name="quote card"/>
          <p:cNvSpPr/>
          <p:nvPr/>
        </p:nvSpPr>
        <p:spPr>
          <a:xfrm>
            <a:off x="548640" y="1463040"/>
            <a:ext cx="5120640" cy="4480560"/>
          </a:xfrm>
          <a:prstGeom prst="roundRect">
            <a:avLst>
              <a:gd name="adj" fmla="val 3061"/>
            </a:avLst>
          </a:prstGeom>
          <a:solidFill>
            <a:schemeClr val="tx1"/>
          </a:solidFill>
          <a:ln/>
        </p:spPr>
      </p:sp>
      <p:pic>
        <p:nvPicPr>
          <p:cNvPr id="4" name="quote icon" descr="Quote">    </p:cNvPr>
          <p:cNvPicPr>
            <a:picLocks noChangeAspect="1"/>
          </p:cNvPicPr>
          <p:nvPr/>
        </p:nvPicPr>
        <p:blipFill>
          <a:blip r:embed="rId1"/>
          <a:stretch>
            <a:fillRect/>
          </a:stretch>
        </p:blipFill>
        <p:spPr>
          <a:xfrm>
            <a:off x="914400" y="2103120"/>
            <a:ext cx="731520" cy="731520"/>
          </a:xfrm>
          <a:prstGeom prst="rect">
            <a:avLst/>
          </a:prstGeom>
        </p:spPr>
      </p:pic>
      <p:sp>
        <p:nvSpPr>
          <p:cNvPr id="5" name="Text 2"/>
          <p:cNvSpPr txBox="1"/>
          <p:nvPr/>
        </p:nvSpPr>
        <p:spPr>
          <a:xfrm>
            <a:off x="914400" y="3017520"/>
            <a:ext cx="4480560" cy="1097280"/>
          </a:xfrm>
          <a:prstGeom prst="rect">
            <a:avLst/>
          </a:prstGeom>
          <a:noFill/>
          <a:ln/>
        </p:spPr>
        <p:txBody>
          <a:bodyPr wrap="square" lIns="0" tIns="0" rIns="0" bIns="0" rtlCol="0" anchor="t"/>
          <a:lstStyle/>
          <a:p>
            <a:pPr indent="0" marL="0">
              <a:buNone/>
            </a:pPr>
            <a:r>
              <a:rPr lang="en-US" sz="3200" b="1" dirty="0">
                <a:solidFill>
                  <a:schemeClr val="bg1"/>
                </a:solidFill>
              </a:rPr>
              <a:t>"Where do I even start?"</a:t>
            </a:r>
            <a:endParaRPr lang="en-US" sz="3200" dirty="0"/>
          </a:p>
        </p:txBody>
      </p:sp>
      <p:sp>
        <p:nvSpPr>
          <p:cNvPr id="6" name="Text 3"/>
          <p:cNvSpPr txBox="1"/>
          <p:nvPr/>
        </p:nvSpPr>
        <p:spPr>
          <a:xfrm>
            <a:off x="914400" y="4297680"/>
            <a:ext cx="4480560" cy="1097280"/>
          </a:xfrm>
          <a:prstGeom prst="rect">
            <a:avLst/>
          </a:prstGeom>
          <a:noFill/>
          <a:ln/>
        </p:spPr>
        <p:txBody>
          <a:bodyPr wrap="square" lIns="0" tIns="0" rIns="0" bIns="0" rtlCol="0" anchor="t"/>
          <a:lstStyle/>
          <a:p>
            <a:pPr indent="0" marL="0">
              <a:buNone/>
            </a:pPr>
            <a:r>
              <a:rPr lang="en-US" sz="2000" dirty="0">
                <a:solidFill>
                  <a:schemeClr val="accent1"/>
                </a:solidFill>
              </a:rPr>
              <a:t>Many of us don't have someone in tech we can ask.</a:t>
            </a:r>
            <a:endParaRPr lang="en-US" sz="2000" dirty="0"/>
          </a:p>
        </p:txBody>
      </p:sp>
      <p:sp>
        <p:nvSpPr>
          <p:cNvPr id="7" name="why 1 circle"/>
          <p:cNvSpPr/>
          <p:nvPr/>
        </p:nvSpPr>
        <p:spPr>
          <a:xfrm>
            <a:off x="6126480" y="1554480"/>
            <a:ext cx="822960" cy="822960"/>
          </a:xfrm>
          <a:prstGeom prst="ellipse">
            <a:avLst/>
          </a:prstGeom>
          <a:solidFill>
            <a:schemeClr val="accent1"/>
          </a:solidFill>
          <a:ln/>
        </p:spPr>
      </p:sp>
      <p:pic>
        <p:nvPicPr>
          <p:cNvPr id="8" name="why 1 icon" descr="why 1">    </p:cNvPr>
          <p:cNvPicPr>
            <a:picLocks noChangeAspect="1"/>
          </p:cNvPicPr>
          <p:nvPr/>
        </p:nvPicPr>
        <p:blipFill>
          <a:blip r:embed="rId2"/>
          <a:stretch>
            <a:fillRect/>
          </a:stretch>
        </p:blipFill>
        <p:spPr>
          <a:xfrm>
            <a:off x="6332220" y="1760220"/>
            <a:ext cx="411480" cy="411480"/>
          </a:xfrm>
          <a:prstGeom prst="rect">
            <a:avLst/>
          </a:prstGeom>
        </p:spPr>
      </p:pic>
      <p:sp>
        <p:nvSpPr>
          <p:cNvPr id="9" name="Text 5"/>
          <p:cNvSpPr txBox="1"/>
          <p:nvPr/>
        </p:nvSpPr>
        <p:spPr>
          <a:xfrm>
            <a:off x="7178040" y="1463040"/>
            <a:ext cx="4434840" cy="457200"/>
          </a:xfrm>
          <a:prstGeom prst="rect">
            <a:avLst/>
          </a:prstGeom>
          <a:noFill/>
          <a:ln/>
        </p:spPr>
        <p:txBody>
          <a:bodyPr wrap="square" lIns="0" tIns="0" rIns="0" bIns="0" rtlCol="0" anchor="t"/>
          <a:lstStyle/>
          <a:p>
            <a:pPr indent="0" marL="0">
              <a:buNone/>
            </a:pPr>
            <a:r>
              <a:rPr lang="en-US" sz="2200" b="1" dirty="0">
                <a:solidFill>
                  <a:schemeClr val="tx1"/>
                </a:solidFill>
              </a:rPr>
              <a:t>Tech is a big world</a:t>
            </a:r>
            <a:endParaRPr lang="en-US" sz="2200" dirty="0"/>
          </a:p>
        </p:txBody>
      </p:sp>
      <p:sp>
        <p:nvSpPr>
          <p:cNvPr id="10" name="Text 6"/>
          <p:cNvSpPr txBox="1"/>
          <p:nvPr/>
        </p:nvSpPr>
        <p:spPr>
          <a:xfrm>
            <a:off x="7178040" y="1965960"/>
            <a:ext cx="4434840" cy="868680"/>
          </a:xfrm>
          <a:prstGeom prst="rect">
            <a:avLst/>
          </a:prstGeom>
          <a:noFill/>
          <a:ln/>
        </p:spPr>
        <p:txBody>
          <a:bodyPr wrap="square" lIns="0" tIns="0" rIns="0" bIns="0" rtlCol="0" anchor="t"/>
          <a:lstStyle/>
          <a:p>
            <a:pPr indent="0" marL="0">
              <a:buNone/>
            </a:pPr>
            <a:r>
              <a:rPr lang="en-US" sz="1600" dirty="0">
                <a:solidFill>
                  <a:schemeClr val="tx2"/>
                </a:solidFill>
              </a:rPr>
              <a:t>It's easy to feel lost. There are so many jobs, classes, and certificates.</a:t>
            </a:r>
            <a:endParaRPr lang="en-US" sz="1600" dirty="0"/>
          </a:p>
        </p:txBody>
      </p:sp>
      <p:sp>
        <p:nvSpPr>
          <p:cNvPr id="11" name="why 2 circle"/>
          <p:cNvSpPr/>
          <p:nvPr/>
        </p:nvSpPr>
        <p:spPr>
          <a:xfrm>
            <a:off x="6126480" y="3108960"/>
            <a:ext cx="822960" cy="822960"/>
          </a:xfrm>
          <a:prstGeom prst="ellipse">
            <a:avLst/>
          </a:prstGeom>
          <a:solidFill>
            <a:schemeClr val="accent1"/>
          </a:solidFill>
          <a:ln/>
        </p:spPr>
      </p:sp>
      <p:pic>
        <p:nvPicPr>
          <p:cNvPr id="12" name="why 2 icon" descr="why 2">    </p:cNvPr>
          <p:cNvPicPr>
            <a:picLocks noChangeAspect="1"/>
          </p:cNvPicPr>
          <p:nvPr/>
        </p:nvPicPr>
        <p:blipFill>
          <a:blip r:embed="rId3"/>
          <a:stretch>
            <a:fillRect/>
          </a:stretch>
        </p:blipFill>
        <p:spPr>
          <a:xfrm>
            <a:off x="6332220" y="3314700"/>
            <a:ext cx="411480" cy="411480"/>
          </a:xfrm>
          <a:prstGeom prst="rect">
            <a:avLst/>
          </a:prstGeom>
        </p:spPr>
      </p:pic>
      <p:sp>
        <p:nvSpPr>
          <p:cNvPr id="13" name="Text 8"/>
          <p:cNvSpPr txBox="1"/>
          <p:nvPr/>
        </p:nvSpPr>
        <p:spPr>
          <a:xfrm>
            <a:off x="7178040" y="3017520"/>
            <a:ext cx="4434840" cy="457200"/>
          </a:xfrm>
          <a:prstGeom prst="rect">
            <a:avLst/>
          </a:prstGeom>
          <a:noFill/>
          <a:ln/>
        </p:spPr>
        <p:txBody>
          <a:bodyPr wrap="square" lIns="0" tIns="0" rIns="0" bIns="0" rtlCol="0" anchor="t"/>
          <a:lstStyle/>
          <a:p>
            <a:pPr indent="0" marL="0">
              <a:buNone/>
            </a:pPr>
            <a:r>
              <a:rPr lang="en-US" sz="2200" b="1" dirty="0">
                <a:solidFill>
                  <a:schemeClr val="tx1"/>
                </a:solidFill>
              </a:rPr>
              <a:t>A clear first step</a:t>
            </a:r>
            <a:endParaRPr lang="en-US" sz="2200" dirty="0"/>
          </a:p>
        </p:txBody>
      </p:sp>
      <p:sp>
        <p:nvSpPr>
          <p:cNvPr id="14" name="Text 9"/>
          <p:cNvSpPr txBox="1"/>
          <p:nvPr/>
        </p:nvSpPr>
        <p:spPr>
          <a:xfrm>
            <a:off x="7178040" y="3520440"/>
            <a:ext cx="4434840" cy="868680"/>
          </a:xfrm>
          <a:prstGeom prst="rect">
            <a:avLst/>
          </a:prstGeom>
          <a:noFill/>
          <a:ln/>
        </p:spPr>
        <p:txBody>
          <a:bodyPr wrap="square" lIns="0" tIns="0" rIns="0" bIns="0" rtlCol="0" anchor="t"/>
          <a:lstStyle/>
          <a:p>
            <a:pPr indent="0" marL="0">
              <a:buNone/>
            </a:pPr>
            <a:r>
              <a:rPr lang="en-US" sz="1600" dirty="0">
                <a:solidFill>
                  <a:schemeClr val="tx2"/>
                </a:solidFill>
              </a:rPr>
              <a:t>This app gives you a starting point made just for you.</a:t>
            </a:r>
            <a:endParaRPr lang="en-US" sz="1600" dirty="0"/>
          </a:p>
        </p:txBody>
      </p:sp>
      <p:sp>
        <p:nvSpPr>
          <p:cNvPr id="15" name="why 3 circle"/>
          <p:cNvSpPr/>
          <p:nvPr/>
        </p:nvSpPr>
        <p:spPr>
          <a:xfrm>
            <a:off x="6126480" y="4663440"/>
            <a:ext cx="822960" cy="822960"/>
          </a:xfrm>
          <a:prstGeom prst="ellipse">
            <a:avLst/>
          </a:prstGeom>
          <a:solidFill>
            <a:schemeClr val="accent1"/>
          </a:solidFill>
          <a:ln/>
        </p:spPr>
      </p:sp>
      <p:pic>
        <p:nvPicPr>
          <p:cNvPr id="16" name="why 3 icon" descr="why 3">    </p:cNvPr>
          <p:cNvPicPr>
            <a:picLocks noChangeAspect="1"/>
          </p:cNvPicPr>
          <p:nvPr/>
        </p:nvPicPr>
        <p:blipFill>
          <a:blip r:embed="rId4"/>
          <a:stretch>
            <a:fillRect/>
          </a:stretch>
        </p:blipFill>
        <p:spPr>
          <a:xfrm>
            <a:off x="6332220" y="4869180"/>
            <a:ext cx="411480" cy="411480"/>
          </a:xfrm>
          <a:prstGeom prst="rect">
            <a:avLst/>
          </a:prstGeom>
        </p:spPr>
      </p:pic>
      <p:sp>
        <p:nvSpPr>
          <p:cNvPr id="17" name="Text 11"/>
          <p:cNvSpPr txBox="1"/>
          <p:nvPr/>
        </p:nvSpPr>
        <p:spPr>
          <a:xfrm>
            <a:off x="7178040" y="4572000"/>
            <a:ext cx="4434840" cy="457200"/>
          </a:xfrm>
          <a:prstGeom prst="rect">
            <a:avLst/>
          </a:prstGeom>
          <a:noFill/>
          <a:ln/>
        </p:spPr>
        <p:txBody>
          <a:bodyPr wrap="square" lIns="0" tIns="0" rIns="0" bIns="0" rtlCol="0" anchor="t"/>
          <a:lstStyle/>
          <a:p>
            <a:pPr indent="0" marL="0">
              <a:buNone/>
            </a:pPr>
            <a:r>
              <a:rPr lang="en-US" sz="2200" b="1" dirty="0">
                <a:solidFill>
                  <a:schemeClr val="tx1"/>
                </a:solidFill>
              </a:rPr>
              <a:t>Create, don't just consume</a:t>
            </a:r>
            <a:endParaRPr lang="en-US" sz="2200" dirty="0"/>
          </a:p>
        </p:txBody>
      </p:sp>
      <p:sp>
        <p:nvSpPr>
          <p:cNvPr id="18" name="Text 12"/>
          <p:cNvSpPr txBox="1"/>
          <p:nvPr/>
        </p:nvSpPr>
        <p:spPr>
          <a:xfrm>
            <a:off x="7178040" y="5074920"/>
            <a:ext cx="4434840" cy="868680"/>
          </a:xfrm>
          <a:prstGeom prst="rect">
            <a:avLst/>
          </a:prstGeom>
          <a:noFill/>
          <a:ln/>
        </p:spPr>
        <p:txBody>
          <a:bodyPr wrap="square" lIns="0" tIns="0" rIns="0" bIns="0" rtlCol="0" anchor="t"/>
          <a:lstStyle/>
          <a:p>
            <a:pPr indent="0" marL="0">
              <a:buNone/>
            </a:pPr>
            <a:r>
              <a:rPr lang="en-US" sz="1600" dirty="0">
                <a:solidFill>
                  <a:schemeClr val="tx2"/>
                </a:solidFill>
              </a:rPr>
              <a:t>Building it proves you can make things with AI, not just use them.</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What we hope you take home</a:t>
            </a:r>
            <a:endParaRPr lang="en-US" sz="3600" dirty="0"/>
          </a:p>
        </p:txBody>
      </p:sp>
      <p:sp>
        <p:nvSpPr>
          <p:cNvPr id="3" name="take 1 card"/>
          <p:cNvSpPr/>
          <p:nvPr/>
        </p:nvSpPr>
        <p:spPr>
          <a:xfrm>
            <a:off x="548640" y="1463040"/>
            <a:ext cx="5440680" cy="2103120"/>
          </a:xfrm>
          <a:prstGeom prst="roundRect">
            <a:avLst>
              <a:gd name="adj" fmla="val 6522"/>
            </a:avLst>
          </a:prstGeom>
          <a:solidFill>
            <a:schemeClr val="bg2"/>
          </a:solidFill>
          <a:ln/>
        </p:spPr>
      </p:sp>
      <p:sp>
        <p:nvSpPr>
          <p:cNvPr id="4" name="take 1 circle"/>
          <p:cNvSpPr/>
          <p:nvPr/>
        </p:nvSpPr>
        <p:spPr>
          <a:xfrm>
            <a:off x="868680" y="2011680"/>
            <a:ext cx="1005840" cy="1005840"/>
          </a:xfrm>
          <a:prstGeom prst="ellipse">
            <a:avLst/>
          </a:prstGeom>
          <a:solidFill>
            <a:schemeClr val="accent1"/>
          </a:solidFill>
          <a:ln/>
        </p:spPr>
      </p:sp>
      <p:pic>
        <p:nvPicPr>
          <p:cNvPr id="5" name="take 1 icon" descr="take 1">    </p:cNvPr>
          <p:cNvPicPr>
            <a:picLocks noChangeAspect="1"/>
          </p:cNvPicPr>
          <p:nvPr/>
        </p:nvPicPr>
        <p:blipFill>
          <a:blip r:embed="rId1"/>
          <a:stretch>
            <a:fillRect/>
          </a:stretch>
        </p:blipFill>
        <p:spPr>
          <a:xfrm>
            <a:off x="1120140" y="2263140"/>
            <a:ext cx="502920" cy="502920"/>
          </a:xfrm>
          <a:prstGeom prst="rect">
            <a:avLst/>
          </a:prstGeom>
        </p:spPr>
      </p:pic>
      <p:sp>
        <p:nvSpPr>
          <p:cNvPr id="6" name="Text 3"/>
          <p:cNvSpPr txBox="1"/>
          <p:nvPr/>
        </p:nvSpPr>
        <p:spPr>
          <a:xfrm>
            <a:off x="2148840" y="1920240"/>
            <a:ext cx="3566160" cy="548640"/>
          </a:xfrm>
          <a:prstGeom prst="rect">
            <a:avLst/>
          </a:prstGeom>
          <a:noFill/>
          <a:ln/>
        </p:spPr>
        <p:txBody>
          <a:bodyPr wrap="square" lIns="0" tIns="0" rIns="0" bIns="0" rtlCol="0" anchor="t"/>
          <a:lstStyle/>
          <a:p>
            <a:pPr indent="0" marL="0">
              <a:buNone/>
            </a:pPr>
            <a:r>
              <a:rPr lang="en-US" sz="2400" b="1" dirty="0">
                <a:solidFill>
                  <a:schemeClr val="tx1"/>
                </a:solidFill>
              </a:rPr>
              <a:t>A working app</a:t>
            </a:r>
            <a:endParaRPr lang="en-US" sz="2400" dirty="0"/>
          </a:p>
        </p:txBody>
      </p:sp>
      <p:sp>
        <p:nvSpPr>
          <p:cNvPr id="7" name="Text 4"/>
          <p:cNvSpPr txBox="1"/>
          <p:nvPr/>
        </p:nvSpPr>
        <p:spPr>
          <a:xfrm>
            <a:off x="2148840" y="2514600"/>
            <a:ext cx="3566160" cy="822960"/>
          </a:xfrm>
          <a:prstGeom prst="rect">
            <a:avLst/>
          </a:prstGeom>
          <a:noFill/>
          <a:ln/>
        </p:spPr>
        <p:txBody>
          <a:bodyPr wrap="square" lIns="0" tIns="0" rIns="0" bIns="0" rtlCol="0" anchor="t"/>
          <a:lstStyle/>
          <a:p>
            <a:pPr indent="0" marL="0">
              <a:buNone/>
            </a:pPr>
            <a:r>
              <a:rPr lang="en-US" sz="1800" dirty="0">
                <a:solidFill>
                  <a:schemeClr val="tx2"/>
                </a:solidFill>
              </a:rPr>
              <a:t>Your own live link to share with anyone.</a:t>
            </a:r>
            <a:endParaRPr lang="en-US" sz="1800" dirty="0"/>
          </a:p>
        </p:txBody>
      </p:sp>
      <p:sp>
        <p:nvSpPr>
          <p:cNvPr id="8" name="take 2 card"/>
          <p:cNvSpPr/>
          <p:nvPr/>
        </p:nvSpPr>
        <p:spPr>
          <a:xfrm>
            <a:off x="6172200" y="1463040"/>
            <a:ext cx="5440680" cy="2103120"/>
          </a:xfrm>
          <a:prstGeom prst="roundRect">
            <a:avLst>
              <a:gd name="adj" fmla="val 6522"/>
            </a:avLst>
          </a:prstGeom>
          <a:solidFill>
            <a:schemeClr val="bg2"/>
          </a:solidFill>
          <a:ln/>
        </p:spPr>
      </p:sp>
      <p:sp>
        <p:nvSpPr>
          <p:cNvPr id="9" name="take 2 circle"/>
          <p:cNvSpPr/>
          <p:nvPr/>
        </p:nvSpPr>
        <p:spPr>
          <a:xfrm>
            <a:off x="6492240" y="2011680"/>
            <a:ext cx="1005840" cy="1005840"/>
          </a:xfrm>
          <a:prstGeom prst="ellipse">
            <a:avLst/>
          </a:prstGeom>
          <a:solidFill>
            <a:schemeClr val="accent1"/>
          </a:solidFill>
          <a:ln/>
        </p:spPr>
      </p:sp>
      <p:pic>
        <p:nvPicPr>
          <p:cNvPr id="10" name="take 2 icon" descr="take 2">    </p:cNvPr>
          <p:cNvPicPr>
            <a:picLocks noChangeAspect="1"/>
          </p:cNvPicPr>
          <p:nvPr/>
        </p:nvPicPr>
        <p:blipFill>
          <a:blip r:embed="rId2"/>
          <a:stretch>
            <a:fillRect/>
          </a:stretch>
        </p:blipFill>
        <p:spPr>
          <a:xfrm>
            <a:off x="6743700" y="2263140"/>
            <a:ext cx="502920" cy="502920"/>
          </a:xfrm>
          <a:prstGeom prst="rect">
            <a:avLst/>
          </a:prstGeom>
        </p:spPr>
      </p:pic>
      <p:sp>
        <p:nvSpPr>
          <p:cNvPr id="11" name="Text 7"/>
          <p:cNvSpPr txBox="1"/>
          <p:nvPr/>
        </p:nvSpPr>
        <p:spPr>
          <a:xfrm>
            <a:off x="7772400" y="1920240"/>
            <a:ext cx="3566160" cy="548640"/>
          </a:xfrm>
          <a:prstGeom prst="rect">
            <a:avLst/>
          </a:prstGeom>
          <a:noFill/>
          <a:ln/>
        </p:spPr>
        <p:txBody>
          <a:bodyPr wrap="square" lIns="0" tIns="0" rIns="0" bIns="0" rtlCol="0" anchor="t"/>
          <a:lstStyle/>
          <a:p>
            <a:pPr indent="0" marL="0">
              <a:buNone/>
            </a:pPr>
            <a:r>
              <a:rPr lang="en-US" sz="2400" b="1" dirty="0">
                <a:solidFill>
                  <a:schemeClr val="tx1"/>
                </a:solidFill>
              </a:rPr>
              <a:t>Real skills</a:t>
            </a:r>
            <a:endParaRPr lang="en-US" sz="2400" dirty="0"/>
          </a:p>
        </p:txBody>
      </p:sp>
      <p:sp>
        <p:nvSpPr>
          <p:cNvPr id="12" name="Text 8"/>
          <p:cNvSpPr txBox="1"/>
          <p:nvPr/>
        </p:nvSpPr>
        <p:spPr>
          <a:xfrm>
            <a:off x="7772400" y="2514600"/>
            <a:ext cx="3566160" cy="822960"/>
          </a:xfrm>
          <a:prstGeom prst="rect">
            <a:avLst/>
          </a:prstGeom>
          <a:noFill/>
          <a:ln/>
        </p:spPr>
        <p:txBody>
          <a:bodyPr wrap="square" lIns="0" tIns="0" rIns="0" bIns="0" rtlCol="0" anchor="t"/>
          <a:lstStyle/>
          <a:p>
            <a:pPr indent="0" marL="0">
              <a:buNone/>
            </a:pPr>
            <a:r>
              <a:rPr lang="en-US" sz="1800" dirty="0">
                <a:solidFill>
                  <a:schemeClr val="tx2"/>
                </a:solidFill>
              </a:rPr>
              <a:t>How cloud tools connect to make an AI app.</a:t>
            </a:r>
            <a:endParaRPr lang="en-US" sz="1800" dirty="0"/>
          </a:p>
        </p:txBody>
      </p:sp>
      <p:sp>
        <p:nvSpPr>
          <p:cNvPr id="13" name="take 3 card"/>
          <p:cNvSpPr/>
          <p:nvPr/>
        </p:nvSpPr>
        <p:spPr>
          <a:xfrm>
            <a:off x="548640" y="3794760"/>
            <a:ext cx="5440680" cy="2103120"/>
          </a:xfrm>
          <a:prstGeom prst="roundRect">
            <a:avLst>
              <a:gd name="adj" fmla="val 6522"/>
            </a:avLst>
          </a:prstGeom>
          <a:solidFill>
            <a:schemeClr val="bg2"/>
          </a:solidFill>
          <a:ln/>
        </p:spPr>
      </p:sp>
      <p:sp>
        <p:nvSpPr>
          <p:cNvPr id="14" name="take 3 circle"/>
          <p:cNvSpPr/>
          <p:nvPr/>
        </p:nvSpPr>
        <p:spPr>
          <a:xfrm>
            <a:off x="868680" y="4343400"/>
            <a:ext cx="1005840" cy="1005840"/>
          </a:xfrm>
          <a:prstGeom prst="ellipse">
            <a:avLst/>
          </a:prstGeom>
          <a:solidFill>
            <a:schemeClr val="accent1"/>
          </a:solidFill>
          <a:ln/>
        </p:spPr>
      </p:sp>
      <p:pic>
        <p:nvPicPr>
          <p:cNvPr id="15" name="take 3 icon" descr="take 3">    </p:cNvPr>
          <p:cNvPicPr>
            <a:picLocks noChangeAspect="1"/>
          </p:cNvPicPr>
          <p:nvPr/>
        </p:nvPicPr>
        <p:blipFill>
          <a:blip r:embed="rId3"/>
          <a:stretch>
            <a:fillRect/>
          </a:stretch>
        </p:blipFill>
        <p:spPr>
          <a:xfrm>
            <a:off x="1120140" y="4594860"/>
            <a:ext cx="502920" cy="502920"/>
          </a:xfrm>
          <a:prstGeom prst="rect">
            <a:avLst/>
          </a:prstGeom>
        </p:spPr>
      </p:pic>
      <p:sp>
        <p:nvSpPr>
          <p:cNvPr id="16" name="Text 11"/>
          <p:cNvSpPr txBox="1"/>
          <p:nvPr/>
        </p:nvSpPr>
        <p:spPr>
          <a:xfrm>
            <a:off x="2148840" y="4251960"/>
            <a:ext cx="3566160" cy="548640"/>
          </a:xfrm>
          <a:prstGeom prst="rect">
            <a:avLst/>
          </a:prstGeom>
          <a:noFill/>
          <a:ln/>
        </p:spPr>
        <p:txBody>
          <a:bodyPr wrap="square" lIns="0" tIns="0" rIns="0" bIns="0" rtlCol="0" anchor="t"/>
          <a:lstStyle/>
          <a:p>
            <a:pPr indent="0" marL="0">
              <a:buNone/>
            </a:pPr>
            <a:r>
              <a:rPr lang="en-US" sz="2400" b="1" dirty="0">
                <a:solidFill>
                  <a:schemeClr val="tx1"/>
                </a:solidFill>
              </a:rPr>
              <a:t>Your roadmap</a:t>
            </a:r>
            <a:endParaRPr lang="en-US" sz="2400" dirty="0"/>
          </a:p>
        </p:txBody>
      </p:sp>
      <p:sp>
        <p:nvSpPr>
          <p:cNvPr id="17" name="Text 12"/>
          <p:cNvSpPr txBox="1"/>
          <p:nvPr/>
        </p:nvSpPr>
        <p:spPr>
          <a:xfrm>
            <a:off x="2148840" y="4846320"/>
            <a:ext cx="3566160" cy="822960"/>
          </a:xfrm>
          <a:prstGeom prst="rect">
            <a:avLst/>
          </a:prstGeom>
          <a:noFill/>
          <a:ln/>
        </p:spPr>
        <p:txBody>
          <a:bodyPr wrap="square" lIns="0" tIns="0" rIns="0" bIns="0" rtlCol="0" anchor="t"/>
          <a:lstStyle/>
          <a:p>
            <a:pPr indent="0" marL="0">
              <a:buNone/>
            </a:pPr>
            <a:r>
              <a:rPr lang="en-US" sz="1800" dirty="0">
                <a:solidFill>
                  <a:schemeClr val="tx2"/>
                </a:solidFill>
              </a:rPr>
              <a:t>A plan for your next 90 days in tech.</a:t>
            </a:r>
            <a:endParaRPr lang="en-US" sz="1800" dirty="0"/>
          </a:p>
        </p:txBody>
      </p:sp>
      <p:sp>
        <p:nvSpPr>
          <p:cNvPr id="18" name="take 4 card"/>
          <p:cNvSpPr/>
          <p:nvPr/>
        </p:nvSpPr>
        <p:spPr>
          <a:xfrm>
            <a:off x="6172200" y="3794760"/>
            <a:ext cx="5440680" cy="2103120"/>
          </a:xfrm>
          <a:prstGeom prst="roundRect">
            <a:avLst>
              <a:gd name="adj" fmla="val 6522"/>
            </a:avLst>
          </a:prstGeom>
          <a:solidFill>
            <a:schemeClr val="bg2"/>
          </a:solidFill>
          <a:ln/>
        </p:spPr>
      </p:sp>
      <p:sp>
        <p:nvSpPr>
          <p:cNvPr id="19" name="take 4 circle"/>
          <p:cNvSpPr/>
          <p:nvPr/>
        </p:nvSpPr>
        <p:spPr>
          <a:xfrm>
            <a:off x="6492240" y="4343400"/>
            <a:ext cx="1005840" cy="1005840"/>
          </a:xfrm>
          <a:prstGeom prst="ellipse">
            <a:avLst/>
          </a:prstGeom>
          <a:solidFill>
            <a:schemeClr val="accent1"/>
          </a:solidFill>
          <a:ln/>
        </p:spPr>
      </p:sp>
      <p:pic>
        <p:nvPicPr>
          <p:cNvPr id="20" name="take 4 icon" descr="take 4">    </p:cNvPr>
          <p:cNvPicPr>
            <a:picLocks noChangeAspect="1"/>
          </p:cNvPicPr>
          <p:nvPr/>
        </p:nvPicPr>
        <p:blipFill>
          <a:blip r:embed="rId4"/>
          <a:stretch>
            <a:fillRect/>
          </a:stretch>
        </p:blipFill>
        <p:spPr>
          <a:xfrm>
            <a:off x="6743700" y="4594860"/>
            <a:ext cx="502920" cy="502920"/>
          </a:xfrm>
          <a:prstGeom prst="rect">
            <a:avLst/>
          </a:prstGeom>
        </p:spPr>
      </p:pic>
      <p:sp>
        <p:nvSpPr>
          <p:cNvPr id="21" name="Text 15"/>
          <p:cNvSpPr txBox="1"/>
          <p:nvPr/>
        </p:nvSpPr>
        <p:spPr>
          <a:xfrm>
            <a:off x="7772400" y="4251960"/>
            <a:ext cx="3566160" cy="548640"/>
          </a:xfrm>
          <a:prstGeom prst="rect">
            <a:avLst/>
          </a:prstGeom>
          <a:noFill/>
          <a:ln/>
        </p:spPr>
        <p:txBody>
          <a:bodyPr wrap="square" lIns="0" tIns="0" rIns="0" bIns="0" rtlCol="0" anchor="t"/>
          <a:lstStyle/>
          <a:p>
            <a:pPr indent="0" marL="0">
              <a:buNone/>
            </a:pPr>
            <a:r>
              <a:rPr lang="en-US" sz="2400" b="1" dirty="0">
                <a:solidFill>
                  <a:schemeClr val="tx1"/>
                </a:solidFill>
              </a:rPr>
              <a:t>Confidence</a:t>
            </a:r>
            <a:endParaRPr lang="en-US" sz="2400" dirty="0"/>
          </a:p>
        </p:txBody>
      </p:sp>
      <p:sp>
        <p:nvSpPr>
          <p:cNvPr id="22" name="Text 16"/>
          <p:cNvSpPr txBox="1"/>
          <p:nvPr/>
        </p:nvSpPr>
        <p:spPr>
          <a:xfrm>
            <a:off x="7772400" y="4846320"/>
            <a:ext cx="3566160" cy="822960"/>
          </a:xfrm>
          <a:prstGeom prst="rect">
            <a:avLst/>
          </a:prstGeom>
          <a:noFill/>
          <a:ln/>
        </p:spPr>
        <p:txBody>
          <a:bodyPr wrap="square" lIns="0" tIns="0" rIns="0" bIns="0" rtlCol="0" anchor="t"/>
          <a:lstStyle/>
          <a:p>
            <a:pPr indent="0" marL="0">
              <a:buNone/>
            </a:pPr>
            <a:r>
              <a:rPr lang="en-US" sz="1800" dirty="0">
                <a:solidFill>
                  <a:schemeClr val="tx2"/>
                </a:solidFill>
              </a:rPr>
              <a:t>Proof that you can build with AI. Yes, you.</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Meet the 4 AWS tools we'll use</a:t>
            </a:r>
            <a:endParaRPr lang="en-US" sz="3600" dirty="0"/>
          </a:p>
        </p:txBody>
      </p:sp>
      <p:sp>
        <p:nvSpPr>
          <p:cNvPr id="3" name="service 1 card"/>
          <p:cNvSpPr/>
          <p:nvPr/>
        </p:nvSpPr>
        <p:spPr>
          <a:xfrm>
            <a:off x="548640" y="1554480"/>
            <a:ext cx="2606040" cy="3657600"/>
          </a:xfrm>
          <a:prstGeom prst="roundRect">
            <a:avLst>
              <a:gd name="adj" fmla="val 5263"/>
            </a:avLst>
          </a:prstGeom>
          <a:solidFill>
            <a:schemeClr val="bg2"/>
          </a:solidFill>
          <a:ln/>
        </p:spPr>
      </p:sp>
      <p:sp>
        <p:nvSpPr>
          <p:cNvPr id="4" name="service 1 circle"/>
          <p:cNvSpPr/>
          <p:nvPr/>
        </p:nvSpPr>
        <p:spPr>
          <a:xfrm>
            <a:off x="822960" y="1828800"/>
            <a:ext cx="731520" cy="731520"/>
          </a:xfrm>
          <a:prstGeom prst="ellipse">
            <a:avLst/>
          </a:prstGeom>
          <a:solidFill>
            <a:schemeClr val="accent1"/>
          </a:solidFill>
          <a:ln/>
        </p:spPr>
      </p:sp>
      <p:pic>
        <p:nvPicPr>
          <p:cNvPr id="5" name="service 1 icon" descr="service 1">    </p:cNvPr>
          <p:cNvPicPr>
            <a:picLocks noChangeAspect="1"/>
          </p:cNvPicPr>
          <p:nvPr/>
        </p:nvPicPr>
        <p:blipFill>
          <a:blip r:embed="rId1"/>
          <a:stretch>
            <a:fillRect/>
          </a:stretch>
        </p:blipFill>
        <p:spPr>
          <a:xfrm>
            <a:off x="1005840" y="2011680"/>
            <a:ext cx="365760" cy="365760"/>
          </a:xfrm>
          <a:prstGeom prst="rect">
            <a:avLst/>
          </a:prstGeom>
        </p:spPr>
      </p:pic>
      <p:sp>
        <p:nvSpPr>
          <p:cNvPr id="6" name="service 1 head"/>
          <p:cNvSpPr txBox="1"/>
          <p:nvPr/>
        </p:nvSpPr>
        <p:spPr>
          <a:xfrm>
            <a:off x="82296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AWS Amplify</a:t>
            </a:r>
            <a:endParaRPr lang="en-US" sz="2000" dirty="0"/>
          </a:p>
        </p:txBody>
      </p:sp>
      <p:sp>
        <p:nvSpPr>
          <p:cNvPr id="7" name="service 1 body"/>
          <p:cNvSpPr txBox="1"/>
          <p:nvPr/>
        </p:nvSpPr>
        <p:spPr>
          <a:xfrm>
            <a:off x="822960" y="3246120"/>
            <a:ext cx="2057400" cy="1737360"/>
          </a:xfrm>
          <a:prstGeom prst="rect">
            <a:avLst/>
          </a:prstGeom>
          <a:noFill/>
          <a:ln/>
        </p:spPr>
        <p:txBody>
          <a:bodyPr wrap="square" lIns="0" tIns="0" rIns="0" bIns="0" rtlCol="0" anchor="t"/>
          <a:lstStyle/>
          <a:p>
            <a:pPr indent="0" marL="0">
              <a:buNone/>
            </a:pPr>
            <a:r>
              <a:rPr lang="en-US" sz="1700" dirty="0">
                <a:solidFill>
                  <a:schemeClr val="tx2"/>
                </a:solidFill>
              </a:rPr>
              <a:t>Puts our website on the internet so anyone can visit it.</a:t>
            </a:r>
            <a:endParaRPr lang="en-US" sz="1700" dirty="0"/>
          </a:p>
        </p:txBody>
      </p:sp>
      <p:sp>
        <p:nvSpPr>
          <p:cNvPr id="8" name="service 2 card"/>
          <p:cNvSpPr/>
          <p:nvPr/>
        </p:nvSpPr>
        <p:spPr>
          <a:xfrm>
            <a:off x="3383280" y="1554480"/>
            <a:ext cx="2606040" cy="3657600"/>
          </a:xfrm>
          <a:prstGeom prst="roundRect">
            <a:avLst>
              <a:gd name="adj" fmla="val 5263"/>
            </a:avLst>
          </a:prstGeom>
          <a:solidFill>
            <a:schemeClr val="bg2"/>
          </a:solidFill>
          <a:ln/>
        </p:spPr>
      </p:sp>
      <p:sp>
        <p:nvSpPr>
          <p:cNvPr id="9" name="service 2 circle"/>
          <p:cNvSpPr/>
          <p:nvPr/>
        </p:nvSpPr>
        <p:spPr>
          <a:xfrm>
            <a:off x="3657600" y="1828800"/>
            <a:ext cx="731520" cy="731520"/>
          </a:xfrm>
          <a:prstGeom prst="ellipse">
            <a:avLst/>
          </a:prstGeom>
          <a:solidFill>
            <a:schemeClr val="accent1"/>
          </a:solidFill>
          <a:ln/>
        </p:spPr>
      </p:sp>
      <p:pic>
        <p:nvPicPr>
          <p:cNvPr id="10" name="service 2 icon" descr="service 2">    </p:cNvPr>
          <p:cNvPicPr>
            <a:picLocks noChangeAspect="1"/>
          </p:cNvPicPr>
          <p:nvPr/>
        </p:nvPicPr>
        <p:blipFill>
          <a:blip r:embed="rId2"/>
          <a:stretch>
            <a:fillRect/>
          </a:stretch>
        </p:blipFill>
        <p:spPr>
          <a:xfrm>
            <a:off x="3840480" y="2011680"/>
            <a:ext cx="365760" cy="365760"/>
          </a:xfrm>
          <a:prstGeom prst="rect">
            <a:avLst/>
          </a:prstGeom>
        </p:spPr>
      </p:pic>
      <p:sp>
        <p:nvSpPr>
          <p:cNvPr id="11" name="service 2 head"/>
          <p:cNvSpPr txBox="1"/>
          <p:nvPr/>
        </p:nvSpPr>
        <p:spPr>
          <a:xfrm>
            <a:off x="365760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API Gateway</a:t>
            </a:r>
            <a:endParaRPr lang="en-US" sz="2000" dirty="0"/>
          </a:p>
        </p:txBody>
      </p:sp>
      <p:sp>
        <p:nvSpPr>
          <p:cNvPr id="12" name="service 2 body"/>
          <p:cNvSpPr txBox="1"/>
          <p:nvPr/>
        </p:nvSpPr>
        <p:spPr>
          <a:xfrm>
            <a:off x="3657600" y="3246120"/>
            <a:ext cx="2057400" cy="1737360"/>
          </a:xfrm>
          <a:prstGeom prst="rect">
            <a:avLst/>
          </a:prstGeom>
          <a:noFill/>
          <a:ln/>
        </p:spPr>
        <p:txBody>
          <a:bodyPr wrap="square" lIns="0" tIns="0" rIns="0" bIns="0" rtlCol="0" anchor="t"/>
          <a:lstStyle/>
          <a:p>
            <a:pPr indent="0" marL="0">
              <a:buNone/>
            </a:pPr>
            <a:r>
              <a:rPr lang="en-US" sz="1700" dirty="0">
                <a:solidFill>
                  <a:schemeClr val="tx2"/>
                </a:solidFill>
              </a:rPr>
              <a:t>The front door. It takes requests from the website and passes them on.</a:t>
            </a:r>
            <a:endParaRPr lang="en-US" sz="1700" dirty="0"/>
          </a:p>
        </p:txBody>
      </p:sp>
      <p:sp>
        <p:nvSpPr>
          <p:cNvPr id="13" name="service 3 card"/>
          <p:cNvSpPr/>
          <p:nvPr/>
        </p:nvSpPr>
        <p:spPr>
          <a:xfrm>
            <a:off x="6217920" y="1554480"/>
            <a:ext cx="2606040" cy="3657600"/>
          </a:xfrm>
          <a:prstGeom prst="roundRect">
            <a:avLst>
              <a:gd name="adj" fmla="val 5263"/>
            </a:avLst>
          </a:prstGeom>
          <a:solidFill>
            <a:schemeClr val="bg2"/>
          </a:solidFill>
          <a:ln/>
        </p:spPr>
      </p:sp>
      <p:sp>
        <p:nvSpPr>
          <p:cNvPr id="14" name="service 3 circle"/>
          <p:cNvSpPr/>
          <p:nvPr/>
        </p:nvSpPr>
        <p:spPr>
          <a:xfrm>
            <a:off x="6492240" y="1828800"/>
            <a:ext cx="731520" cy="731520"/>
          </a:xfrm>
          <a:prstGeom prst="ellipse">
            <a:avLst/>
          </a:prstGeom>
          <a:solidFill>
            <a:schemeClr val="accent1"/>
          </a:solidFill>
          <a:ln/>
        </p:spPr>
      </p:sp>
      <p:pic>
        <p:nvPicPr>
          <p:cNvPr id="15" name="service 3 icon" descr="service 3">    </p:cNvPr>
          <p:cNvPicPr>
            <a:picLocks noChangeAspect="1"/>
          </p:cNvPicPr>
          <p:nvPr/>
        </p:nvPicPr>
        <p:blipFill>
          <a:blip r:embed="rId3"/>
          <a:stretch>
            <a:fillRect/>
          </a:stretch>
        </p:blipFill>
        <p:spPr>
          <a:xfrm>
            <a:off x="6675120" y="2011680"/>
            <a:ext cx="365760" cy="365760"/>
          </a:xfrm>
          <a:prstGeom prst="rect">
            <a:avLst/>
          </a:prstGeom>
        </p:spPr>
      </p:pic>
      <p:sp>
        <p:nvSpPr>
          <p:cNvPr id="16" name="service 3 head"/>
          <p:cNvSpPr txBox="1"/>
          <p:nvPr/>
        </p:nvSpPr>
        <p:spPr>
          <a:xfrm>
            <a:off x="649224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AWS Lambda</a:t>
            </a:r>
            <a:endParaRPr lang="en-US" sz="2000" dirty="0"/>
          </a:p>
        </p:txBody>
      </p:sp>
      <p:sp>
        <p:nvSpPr>
          <p:cNvPr id="17" name="service 3 body"/>
          <p:cNvSpPr txBox="1"/>
          <p:nvPr/>
        </p:nvSpPr>
        <p:spPr>
          <a:xfrm>
            <a:off x="6492240" y="3246120"/>
            <a:ext cx="2057400" cy="1737360"/>
          </a:xfrm>
          <a:prstGeom prst="rect">
            <a:avLst/>
          </a:prstGeom>
          <a:noFill/>
          <a:ln/>
        </p:spPr>
        <p:txBody>
          <a:bodyPr wrap="square" lIns="0" tIns="0" rIns="0" bIns="0" rtlCol="0" anchor="t"/>
          <a:lstStyle/>
          <a:p>
            <a:pPr indent="0" marL="0">
              <a:buNone/>
            </a:pPr>
            <a:r>
              <a:rPr lang="en-US" sz="1700" dirty="0">
                <a:solidFill>
                  <a:schemeClr val="tx2"/>
                </a:solidFill>
              </a:rPr>
              <a:t>Runs our Python code, only when someone clicks the button.</a:t>
            </a:r>
            <a:endParaRPr lang="en-US" sz="1700" dirty="0"/>
          </a:p>
        </p:txBody>
      </p:sp>
      <p:sp>
        <p:nvSpPr>
          <p:cNvPr id="18" name="service 4 card"/>
          <p:cNvSpPr/>
          <p:nvPr/>
        </p:nvSpPr>
        <p:spPr>
          <a:xfrm>
            <a:off x="9052560" y="1554480"/>
            <a:ext cx="2606040" cy="3657600"/>
          </a:xfrm>
          <a:prstGeom prst="roundRect">
            <a:avLst>
              <a:gd name="adj" fmla="val 5263"/>
            </a:avLst>
          </a:prstGeom>
          <a:solidFill>
            <a:schemeClr val="bg2"/>
          </a:solidFill>
          <a:ln/>
        </p:spPr>
      </p:sp>
      <p:sp>
        <p:nvSpPr>
          <p:cNvPr id="19" name="service 4 circle"/>
          <p:cNvSpPr/>
          <p:nvPr/>
        </p:nvSpPr>
        <p:spPr>
          <a:xfrm>
            <a:off x="9326880" y="1828800"/>
            <a:ext cx="731520" cy="731520"/>
          </a:xfrm>
          <a:prstGeom prst="ellipse">
            <a:avLst/>
          </a:prstGeom>
          <a:solidFill>
            <a:schemeClr val="accent1"/>
          </a:solidFill>
          <a:ln/>
        </p:spPr>
      </p:sp>
      <p:pic>
        <p:nvPicPr>
          <p:cNvPr id="20" name="service 4 icon" descr="service 4">    </p:cNvPr>
          <p:cNvPicPr>
            <a:picLocks noChangeAspect="1"/>
          </p:cNvPicPr>
          <p:nvPr/>
        </p:nvPicPr>
        <p:blipFill>
          <a:blip r:embed="rId4"/>
          <a:stretch>
            <a:fillRect/>
          </a:stretch>
        </p:blipFill>
        <p:spPr>
          <a:xfrm>
            <a:off x="9509760" y="2011680"/>
            <a:ext cx="365760" cy="365760"/>
          </a:xfrm>
          <a:prstGeom prst="rect">
            <a:avLst/>
          </a:prstGeom>
        </p:spPr>
      </p:pic>
      <p:sp>
        <p:nvSpPr>
          <p:cNvPr id="21" name="service 4 head"/>
          <p:cNvSpPr txBox="1"/>
          <p:nvPr/>
        </p:nvSpPr>
        <p:spPr>
          <a:xfrm>
            <a:off x="9326880" y="2743200"/>
            <a:ext cx="2057400" cy="457200"/>
          </a:xfrm>
          <a:prstGeom prst="rect">
            <a:avLst/>
          </a:prstGeom>
          <a:noFill/>
          <a:ln/>
        </p:spPr>
        <p:txBody>
          <a:bodyPr wrap="square" lIns="0" tIns="0" rIns="0" bIns="0" rtlCol="0" anchor="t"/>
          <a:lstStyle/>
          <a:p>
            <a:pPr indent="0" marL="0">
              <a:buNone/>
            </a:pPr>
            <a:r>
              <a:rPr lang="en-US" sz="2000" b="1" dirty="0">
                <a:solidFill>
                  <a:schemeClr val="tx1"/>
                </a:solidFill>
              </a:rPr>
              <a:t>Amazon Bedrock</a:t>
            </a:r>
            <a:endParaRPr lang="en-US" sz="2000" dirty="0"/>
          </a:p>
        </p:txBody>
      </p:sp>
      <p:sp>
        <p:nvSpPr>
          <p:cNvPr id="22" name="service 4 body"/>
          <p:cNvSpPr txBox="1"/>
          <p:nvPr/>
        </p:nvSpPr>
        <p:spPr>
          <a:xfrm>
            <a:off x="9326880" y="3246120"/>
            <a:ext cx="2057400" cy="1737360"/>
          </a:xfrm>
          <a:prstGeom prst="rect">
            <a:avLst/>
          </a:prstGeom>
          <a:noFill/>
          <a:ln/>
        </p:spPr>
        <p:txBody>
          <a:bodyPr wrap="square" lIns="0" tIns="0" rIns="0" bIns="0" rtlCol="0" anchor="t"/>
          <a:lstStyle/>
          <a:p>
            <a:pPr indent="0" marL="0">
              <a:buNone/>
            </a:pPr>
            <a:r>
              <a:rPr lang="en-US" sz="1700" dirty="0">
                <a:solidFill>
                  <a:schemeClr val="tx2"/>
                </a:solidFill>
              </a:rPr>
              <a:t>Lets us use a smart AI model, called Amazon Nova, to write the plan.</a:t>
            </a:r>
            <a:endParaRPr lang="en-US" sz="1700" dirty="0"/>
          </a:p>
        </p:txBody>
      </p:sp>
      <p:sp>
        <p:nvSpPr>
          <p:cNvPr id="23" name="Text 17"/>
          <p:cNvSpPr txBox="1"/>
          <p:nvPr/>
        </p:nvSpPr>
        <p:spPr>
          <a:xfrm>
            <a:off x="548640" y="5486400"/>
            <a:ext cx="11064240" cy="411480"/>
          </a:xfrm>
          <a:prstGeom prst="rect">
            <a:avLst/>
          </a:prstGeom>
          <a:noFill/>
          <a:ln/>
        </p:spPr>
        <p:txBody>
          <a:bodyPr wrap="square" lIns="0" tIns="0" rIns="0" bIns="0" rtlCol="0" anchor="t"/>
          <a:lstStyle/>
          <a:p>
            <a:pPr indent="0" marL="0">
              <a:buNone/>
            </a:pPr>
            <a:r>
              <a:rPr lang="en-US" sz="1800" i="1" dirty="0">
                <a:solidFill>
                  <a:schemeClr val="tx2"/>
                </a:solidFill>
              </a:rPr>
              <a:t>No servers to buy. No AI to train. We just connect the pieces.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AWS Amplify: a home for our website</a:t>
            </a:r>
            <a:endParaRPr lang="en-US" sz="3600" dirty="0"/>
          </a:p>
        </p:txBody>
      </p:sp>
      <p:sp>
        <p:nvSpPr>
          <p:cNvPr id="3" name="amplify panel"/>
          <p:cNvSpPr/>
          <p:nvPr/>
        </p:nvSpPr>
        <p:spPr>
          <a:xfrm>
            <a:off x="548640" y="1463040"/>
            <a:ext cx="3931920" cy="4480560"/>
          </a:xfrm>
          <a:prstGeom prst="roundRect">
            <a:avLst>
              <a:gd name="adj" fmla="val 3488"/>
            </a:avLst>
          </a:prstGeom>
          <a:solidFill>
            <a:schemeClr val="tx1"/>
          </a:solidFill>
          <a:ln/>
        </p:spPr>
      </p:sp>
      <p:sp>
        <p:nvSpPr>
          <p:cNvPr id="4" name="amplify circle"/>
          <p:cNvSpPr/>
          <p:nvPr/>
        </p:nvSpPr>
        <p:spPr>
          <a:xfrm>
            <a:off x="914400" y="1783080"/>
            <a:ext cx="1097280" cy="1097280"/>
          </a:xfrm>
          <a:prstGeom prst="ellipse">
            <a:avLst/>
          </a:prstGeom>
          <a:solidFill>
            <a:schemeClr val="accent1"/>
          </a:solidFill>
          <a:ln/>
        </p:spPr>
      </p:sp>
      <p:pic>
        <p:nvPicPr>
          <p:cNvPr id="5" name="amplify icon" descr="amplify">    </p:cNvPr>
          <p:cNvPicPr>
            <a:picLocks noChangeAspect="1"/>
          </p:cNvPicPr>
          <p:nvPr/>
        </p:nvPicPr>
        <p:blipFill>
          <a:blip r:embed="rId1"/>
          <a:stretch>
            <a:fillRect/>
          </a:stretch>
        </p:blipFill>
        <p:spPr>
          <a:xfrm>
            <a:off x="1188720" y="2057400"/>
            <a:ext cx="548640" cy="548640"/>
          </a:xfrm>
          <a:prstGeom prst="rect">
            <a:avLst/>
          </a:prstGeom>
        </p:spPr>
      </p:pic>
      <p:sp>
        <p:nvSpPr>
          <p:cNvPr id="6" name="Text 3"/>
          <p:cNvSpPr txBox="1"/>
          <p:nvPr/>
        </p:nvSpPr>
        <p:spPr>
          <a:xfrm>
            <a:off x="914400" y="3063240"/>
            <a:ext cx="3200400" cy="1188720"/>
          </a:xfrm>
          <a:prstGeom prst="rect">
            <a:avLst/>
          </a:prstGeom>
          <a:noFill/>
          <a:ln/>
        </p:spPr>
        <p:txBody>
          <a:bodyPr wrap="square" lIns="0" tIns="0" rIns="0" bIns="0" rtlCol="0" anchor="t"/>
          <a:lstStyle/>
          <a:p>
            <a:pPr indent="0" marL="0">
              <a:buNone/>
            </a:pPr>
            <a:r>
              <a:rPr lang="en-US" sz="2000" b="1" dirty="0">
                <a:solidFill>
                  <a:schemeClr val="bg1"/>
                </a:solidFill>
              </a:rPr>
              <a:t>Amplify puts websites on the internet.</a:t>
            </a:r>
            <a:endParaRPr lang="en-US" sz="2000" dirty="0"/>
          </a:p>
        </p:txBody>
      </p:sp>
      <p:sp>
        <p:nvSpPr>
          <p:cNvPr id="7" name="Text 4"/>
          <p:cNvSpPr txBox="1"/>
          <p:nvPr/>
        </p:nvSpPr>
        <p:spPr>
          <a:xfrm>
            <a:off x="914400" y="4389120"/>
            <a:ext cx="32004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NEW WORD</a:t>
            </a:r>
            <a:endParaRPr lang="en-US" sz="1400" dirty="0"/>
          </a:p>
        </p:txBody>
      </p:sp>
      <p:sp>
        <p:nvSpPr>
          <p:cNvPr id="8" name="Text 5"/>
          <p:cNvSpPr txBox="1"/>
          <p:nvPr/>
        </p:nvSpPr>
        <p:spPr>
          <a:xfrm>
            <a:off x="914400" y="4709160"/>
            <a:ext cx="3200400" cy="1097280"/>
          </a:xfrm>
          <a:prstGeom prst="rect">
            <a:avLst/>
          </a:prstGeom>
          <a:noFill/>
          <a:ln/>
        </p:spPr>
        <p:txBody>
          <a:bodyPr wrap="square" lIns="0" tIns="0" rIns="0" bIns="0" rtlCol="0" anchor="t"/>
          <a:lstStyle/>
          <a:p>
            <a:pPr indent="0" marL="0">
              <a:buNone/>
            </a:pPr>
            <a:r>
              <a:rPr lang="en-US" sz="1600" b="1" dirty="0">
                <a:solidFill>
                  <a:schemeClr val="bg1"/>
                </a:solidFill>
              </a:rPr>
              <a:t>Hosting: </a:t>
            </a:r>
            <a:pPr indent="0" marL="0">
              <a:buNone/>
            </a:pPr>
            <a:r>
              <a:rPr lang="en-US" sz="1600" dirty="0">
                <a:solidFill>
                  <a:schemeClr val="bg1"/>
                </a:solidFill>
              </a:rPr>
              <a:t>keeping a website online so people can visit it.</a:t>
            </a:r>
            <a:endParaRPr lang="en-US" sz="1600" dirty="0"/>
          </a:p>
        </p:txBody>
      </p:sp>
      <p:sp>
        <p:nvSpPr>
          <p:cNvPr id="9" name="amplify row 1 circle"/>
          <p:cNvSpPr/>
          <p:nvPr/>
        </p:nvSpPr>
        <p:spPr>
          <a:xfrm>
            <a:off x="4846320" y="1508760"/>
            <a:ext cx="685800" cy="685800"/>
          </a:xfrm>
          <a:prstGeom prst="ellipse">
            <a:avLst/>
          </a:prstGeom>
          <a:solidFill>
            <a:schemeClr val="accent1"/>
          </a:solidFill>
          <a:ln/>
        </p:spPr>
      </p:sp>
      <p:pic>
        <p:nvPicPr>
          <p:cNvPr id="10" name="amplify row 1 icon" descr="amplify row 1">    </p:cNvPr>
          <p:cNvPicPr>
            <a:picLocks noChangeAspect="1"/>
          </p:cNvPicPr>
          <p:nvPr/>
        </p:nvPicPr>
        <p:blipFill>
          <a:blip r:embed="rId2"/>
          <a:stretch>
            <a:fillRect/>
          </a:stretch>
        </p:blipFill>
        <p:spPr>
          <a:xfrm>
            <a:off x="5017770" y="1680210"/>
            <a:ext cx="342900" cy="342900"/>
          </a:xfrm>
          <a:prstGeom prst="rect">
            <a:avLst/>
          </a:prstGeom>
        </p:spPr>
      </p:pic>
      <p:sp>
        <p:nvSpPr>
          <p:cNvPr id="11" name="Text 7"/>
          <p:cNvSpPr txBox="1"/>
          <p:nvPr/>
        </p:nvSpPr>
        <p:spPr>
          <a:xfrm>
            <a:off x="5760720" y="146304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What it does in our app</a:t>
            </a:r>
            <a:endParaRPr lang="en-US" sz="2000" dirty="0"/>
          </a:p>
        </p:txBody>
      </p:sp>
      <p:sp>
        <p:nvSpPr>
          <p:cNvPr id="12" name="Text 8"/>
          <p:cNvSpPr txBox="1"/>
          <p:nvPr/>
        </p:nvSpPr>
        <p:spPr>
          <a:xfrm>
            <a:off x="5760720" y="1920240"/>
            <a:ext cx="5852160" cy="1005840"/>
          </a:xfrm>
          <a:prstGeom prst="rect">
            <a:avLst/>
          </a:prstGeom>
          <a:noFill/>
          <a:ln/>
        </p:spPr>
        <p:txBody>
          <a:bodyPr wrap="square" lIns="0" tIns="0" rIns="0" bIns="0" rtlCol="0" anchor="t"/>
          <a:lstStyle/>
          <a:p>
            <a:pPr indent="0" marL="0">
              <a:buNone/>
            </a:pPr>
            <a:r>
              <a:rPr lang="en-US" sz="1700" dirty="0">
                <a:solidFill>
                  <a:schemeClr val="tx2"/>
                </a:solidFill>
              </a:rPr>
              <a:t>It holds our 3 website files and gives us a web link that anyone can open.</a:t>
            </a:r>
            <a:endParaRPr lang="en-US" sz="1700" dirty="0"/>
          </a:p>
        </p:txBody>
      </p:sp>
      <p:sp>
        <p:nvSpPr>
          <p:cNvPr id="13" name="amplify row 2 circle"/>
          <p:cNvSpPr/>
          <p:nvPr/>
        </p:nvSpPr>
        <p:spPr>
          <a:xfrm>
            <a:off x="4846320" y="3063240"/>
            <a:ext cx="685800" cy="685800"/>
          </a:xfrm>
          <a:prstGeom prst="ellipse">
            <a:avLst/>
          </a:prstGeom>
          <a:solidFill>
            <a:schemeClr val="accent1"/>
          </a:solidFill>
          <a:ln/>
        </p:spPr>
      </p:sp>
      <p:pic>
        <p:nvPicPr>
          <p:cNvPr id="14" name="amplify row 2 icon" descr="amplify row 2">    </p:cNvPr>
          <p:cNvPicPr>
            <a:picLocks noChangeAspect="1"/>
          </p:cNvPicPr>
          <p:nvPr/>
        </p:nvPicPr>
        <p:blipFill>
          <a:blip r:embed="rId3"/>
          <a:stretch>
            <a:fillRect/>
          </a:stretch>
        </p:blipFill>
        <p:spPr>
          <a:xfrm>
            <a:off x="5017770" y="3234690"/>
            <a:ext cx="342900" cy="342900"/>
          </a:xfrm>
          <a:prstGeom prst="rect">
            <a:avLst/>
          </a:prstGeom>
        </p:spPr>
      </p:pic>
      <p:sp>
        <p:nvSpPr>
          <p:cNvPr id="15" name="Text 10"/>
          <p:cNvSpPr txBox="1"/>
          <p:nvPr/>
        </p:nvSpPr>
        <p:spPr>
          <a:xfrm>
            <a:off x="5760720" y="3017520"/>
            <a:ext cx="5852160" cy="411480"/>
          </a:xfrm>
          <a:prstGeom prst="rect">
            <a:avLst/>
          </a:prstGeom>
          <a:noFill/>
          <a:ln/>
        </p:spPr>
        <p:txBody>
          <a:bodyPr wrap="square" lIns="0" tIns="0" rIns="0" bIns="0" rtlCol="0" anchor="t"/>
          <a:lstStyle/>
          <a:p>
            <a:pPr indent="0" marL="0">
              <a:buNone/>
            </a:pPr>
            <a:r>
              <a:rPr lang="en-US" sz="2000" b="1" dirty="0">
                <a:solidFill>
                  <a:schemeClr val="tx1"/>
                </a:solidFill>
              </a:rPr>
              <a:t>Think of it like</a:t>
            </a:r>
            <a:endParaRPr lang="en-US" sz="2000" dirty="0"/>
          </a:p>
        </p:txBody>
      </p:sp>
      <p:sp>
        <p:nvSpPr>
          <p:cNvPr id="16" name="Text 11"/>
          <p:cNvSpPr txBox="1"/>
          <p:nvPr/>
        </p:nvSpPr>
        <p:spPr>
          <a:xfrm>
            <a:off x="5760720" y="3474720"/>
            <a:ext cx="5852160" cy="1005840"/>
          </a:xfrm>
          <a:prstGeom prst="rect">
            <a:avLst/>
          </a:prstGeom>
          <a:noFill/>
          <a:ln/>
        </p:spPr>
        <p:txBody>
          <a:bodyPr wrap="square" lIns="0" tIns="0" rIns="0" bIns="0" rtlCol="0" anchor="t"/>
          <a:lstStyle/>
          <a:p>
            <a:pPr indent="0" marL="0">
              <a:buNone/>
            </a:pPr>
            <a:r>
              <a:rPr lang="en-US" sz="1700" dirty="0">
                <a:solidFill>
                  <a:schemeClr val="tx2"/>
                </a:solidFill>
              </a:rPr>
              <a:t>Renting a storefront on a busy street. People can walk in any time, day or night.</a:t>
            </a:r>
            <a:endParaRPr lang="en-US" sz="1700" dirty="0"/>
          </a:p>
        </p:txBody>
      </p:sp>
      <p:sp>
        <p:nvSpPr>
          <p:cNvPr id="17" name="amplify row 3 circle"/>
          <p:cNvSpPr/>
          <p:nvPr/>
        </p:nvSpPr>
        <p:spPr>
          <a:xfrm>
            <a:off x="4846320" y="4617720"/>
            <a:ext cx="685800" cy="685800"/>
          </a:xfrm>
          <a:prstGeom prst="ellipse">
            <a:avLst/>
          </a:prstGeom>
          <a:solidFill>
            <a:schemeClr val="accent1"/>
          </a:solidFill>
          <a:ln/>
        </p:spPr>
      </p:sp>
      <p:pic>
        <p:nvPicPr>
          <p:cNvPr id="18" name="amplify row 3 icon" descr="amplify row 3">    </p:cNvPr>
          <p:cNvPicPr>
            <a:picLocks noChangeAspect="1"/>
          </p:cNvPicPr>
          <p:nvPr/>
        </p:nvPicPr>
        <p:blipFill>
          <a:blip r:embed="rId4"/>
          <a:stretch>
            <a:fillRect/>
          </a:stretch>
        </p:blipFill>
        <p:spPr>
          <a:xfrm>
            <a:off x="5017770" y="4789170"/>
            <a:ext cx="342900" cy="342900"/>
          </a:xfrm>
          <a:prstGeom prst="rect">
            <a:avLst/>
          </a:prstGeom>
        </p:spPr>
      </p:pic>
      <p:sp>
        <p:nvSpPr>
          <p:cNvPr id="19" name="Text 13"/>
          <p:cNvSpPr txBox="1"/>
          <p:nvPr/>
        </p:nvSpPr>
        <p:spPr>
          <a:xfrm>
            <a:off x="5760720" y="457200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Why it helps</a:t>
            </a:r>
            <a:endParaRPr lang="en-US" sz="2000" dirty="0"/>
          </a:p>
        </p:txBody>
      </p:sp>
      <p:sp>
        <p:nvSpPr>
          <p:cNvPr id="20" name="Text 14"/>
          <p:cNvSpPr txBox="1"/>
          <p:nvPr/>
        </p:nvSpPr>
        <p:spPr>
          <a:xfrm>
            <a:off x="5760720" y="5029200"/>
            <a:ext cx="5852160" cy="1005840"/>
          </a:xfrm>
          <a:prstGeom prst="rect">
            <a:avLst/>
          </a:prstGeom>
          <a:noFill/>
          <a:ln/>
        </p:spPr>
        <p:txBody>
          <a:bodyPr wrap="square" lIns="0" tIns="0" rIns="0" bIns="0" rtlCol="0" anchor="t"/>
          <a:lstStyle/>
          <a:p>
            <a:pPr indent="0" marL="0">
              <a:buNone/>
            </a:pPr>
            <a:r>
              <a:rPr lang="en-US" sz="1700" dirty="0">
                <a:solidFill>
                  <a:schemeClr val="tx2"/>
                </a:solidFill>
              </a:rPr>
              <a:t>You just upload a zip file. Amplify keeps the site fast and secure for you.</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API Gateway: the front door</a:t>
            </a:r>
            <a:endParaRPr lang="en-US" sz="3600" dirty="0"/>
          </a:p>
        </p:txBody>
      </p:sp>
      <p:sp>
        <p:nvSpPr>
          <p:cNvPr id="3" name="api gateway panel"/>
          <p:cNvSpPr/>
          <p:nvPr/>
        </p:nvSpPr>
        <p:spPr>
          <a:xfrm>
            <a:off x="548640" y="1463040"/>
            <a:ext cx="3931920" cy="4480560"/>
          </a:xfrm>
          <a:prstGeom prst="roundRect">
            <a:avLst>
              <a:gd name="adj" fmla="val 3488"/>
            </a:avLst>
          </a:prstGeom>
          <a:solidFill>
            <a:schemeClr val="tx1"/>
          </a:solidFill>
          <a:ln/>
        </p:spPr>
      </p:sp>
      <p:sp>
        <p:nvSpPr>
          <p:cNvPr id="4" name="api gateway circle"/>
          <p:cNvSpPr/>
          <p:nvPr/>
        </p:nvSpPr>
        <p:spPr>
          <a:xfrm>
            <a:off x="914400" y="1783080"/>
            <a:ext cx="1097280" cy="1097280"/>
          </a:xfrm>
          <a:prstGeom prst="ellipse">
            <a:avLst/>
          </a:prstGeom>
          <a:solidFill>
            <a:schemeClr val="accent1"/>
          </a:solidFill>
          <a:ln/>
        </p:spPr>
      </p:sp>
      <p:pic>
        <p:nvPicPr>
          <p:cNvPr id="5" name="api gateway icon" descr="api gateway">    </p:cNvPr>
          <p:cNvPicPr>
            <a:picLocks noChangeAspect="1"/>
          </p:cNvPicPr>
          <p:nvPr/>
        </p:nvPicPr>
        <p:blipFill>
          <a:blip r:embed="rId1"/>
          <a:stretch>
            <a:fillRect/>
          </a:stretch>
        </p:blipFill>
        <p:spPr>
          <a:xfrm>
            <a:off x="1188720" y="2057400"/>
            <a:ext cx="548640" cy="548640"/>
          </a:xfrm>
          <a:prstGeom prst="rect">
            <a:avLst/>
          </a:prstGeom>
        </p:spPr>
      </p:pic>
      <p:sp>
        <p:nvSpPr>
          <p:cNvPr id="6" name="Text 3"/>
          <p:cNvSpPr txBox="1"/>
          <p:nvPr/>
        </p:nvSpPr>
        <p:spPr>
          <a:xfrm>
            <a:off x="914400" y="3063240"/>
            <a:ext cx="3200400" cy="1188720"/>
          </a:xfrm>
          <a:prstGeom prst="rect">
            <a:avLst/>
          </a:prstGeom>
          <a:noFill/>
          <a:ln/>
        </p:spPr>
        <p:txBody>
          <a:bodyPr wrap="square" lIns="0" tIns="0" rIns="0" bIns="0" rtlCol="0" anchor="t"/>
          <a:lstStyle/>
          <a:p>
            <a:pPr indent="0" marL="0">
              <a:buNone/>
            </a:pPr>
            <a:r>
              <a:rPr lang="en-US" sz="2000" b="1" dirty="0">
                <a:solidFill>
                  <a:schemeClr val="bg1"/>
                </a:solidFill>
              </a:rPr>
              <a:t>API Gateway lets websites and apps talk to our code.</a:t>
            </a:r>
            <a:endParaRPr lang="en-US" sz="2000" dirty="0"/>
          </a:p>
        </p:txBody>
      </p:sp>
      <p:sp>
        <p:nvSpPr>
          <p:cNvPr id="7" name="Text 4"/>
          <p:cNvSpPr txBox="1"/>
          <p:nvPr/>
        </p:nvSpPr>
        <p:spPr>
          <a:xfrm>
            <a:off x="914400" y="4389120"/>
            <a:ext cx="32004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NEW WORD</a:t>
            </a:r>
            <a:endParaRPr lang="en-US" sz="1400" dirty="0"/>
          </a:p>
        </p:txBody>
      </p:sp>
      <p:sp>
        <p:nvSpPr>
          <p:cNvPr id="8" name="Text 5"/>
          <p:cNvSpPr txBox="1"/>
          <p:nvPr/>
        </p:nvSpPr>
        <p:spPr>
          <a:xfrm>
            <a:off x="914400" y="4709160"/>
            <a:ext cx="3200400" cy="1097280"/>
          </a:xfrm>
          <a:prstGeom prst="rect">
            <a:avLst/>
          </a:prstGeom>
          <a:noFill/>
          <a:ln/>
        </p:spPr>
        <p:txBody>
          <a:bodyPr wrap="square" lIns="0" tIns="0" rIns="0" bIns="0" rtlCol="0" anchor="t"/>
          <a:lstStyle/>
          <a:p>
            <a:pPr indent="0" marL="0">
              <a:buNone/>
            </a:pPr>
            <a:r>
              <a:rPr lang="en-US" sz="1600" b="1" dirty="0">
                <a:solidFill>
                  <a:schemeClr val="bg1"/>
                </a:solidFill>
              </a:rPr>
              <a:t>API: </a:t>
            </a:r>
            <a:pPr indent="0" marL="0">
              <a:buNone/>
            </a:pPr>
            <a:r>
              <a:rPr lang="en-US" sz="1600" dirty="0">
                <a:solidFill>
                  <a:schemeClr val="bg1"/>
                </a:solidFill>
              </a:rPr>
              <a:t>a way for two computer programs to talk to each other.</a:t>
            </a:r>
            <a:endParaRPr lang="en-US" sz="1600" dirty="0"/>
          </a:p>
        </p:txBody>
      </p:sp>
      <p:sp>
        <p:nvSpPr>
          <p:cNvPr id="9" name="api gateway row 1 circle"/>
          <p:cNvSpPr/>
          <p:nvPr/>
        </p:nvSpPr>
        <p:spPr>
          <a:xfrm>
            <a:off x="4846320" y="1508760"/>
            <a:ext cx="685800" cy="685800"/>
          </a:xfrm>
          <a:prstGeom prst="ellipse">
            <a:avLst/>
          </a:prstGeom>
          <a:solidFill>
            <a:schemeClr val="accent1"/>
          </a:solidFill>
          <a:ln/>
        </p:spPr>
      </p:sp>
      <p:pic>
        <p:nvPicPr>
          <p:cNvPr id="10" name="api gateway row 1 icon" descr="api gateway row 1">    </p:cNvPr>
          <p:cNvPicPr>
            <a:picLocks noChangeAspect="1"/>
          </p:cNvPicPr>
          <p:nvPr/>
        </p:nvPicPr>
        <p:blipFill>
          <a:blip r:embed="rId2"/>
          <a:stretch>
            <a:fillRect/>
          </a:stretch>
        </p:blipFill>
        <p:spPr>
          <a:xfrm>
            <a:off x="5017770" y="1680210"/>
            <a:ext cx="342900" cy="342900"/>
          </a:xfrm>
          <a:prstGeom prst="rect">
            <a:avLst/>
          </a:prstGeom>
        </p:spPr>
      </p:pic>
      <p:sp>
        <p:nvSpPr>
          <p:cNvPr id="11" name="Text 7"/>
          <p:cNvSpPr txBox="1"/>
          <p:nvPr/>
        </p:nvSpPr>
        <p:spPr>
          <a:xfrm>
            <a:off x="5760720" y="146304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What it does in our app</a:t>
            </a:r>
            <a:endParaRPr lang="en-US" sz="2000" dirty="0"/>
          </a:p>
        </p:txBody>
      </p:sp>
      <p:sp>
        <p:nvSpPr>
          <p:cNvPr id="12" name="Text 8"/>
          <p:cNvSpPr txBox="1"/>
          <p:nvPr/>
        </p:nvSpPr>
        <p:spPr>
          <a:xfrm>
            <a:off x="5760720" y="1920240"/>
            <a:ext cx="5852160" cy="1005840"/>
          </a:xfrm>
          <a:prstGeom prst="rect">
            <a:avLst/>
          </a:prstGeom>
          <a:noFill/>
          <a:ln/>
        </p:spPr>
        <p:txBody>
          <a:bodyPr wrap="square" lIns="0" tIns="0" rIns="0" bIns="0" rtlCol="0" anchor="t"/>
          <a:lstStyle/>
          <a:p>
            <a:pPr indent="0" marL="0">
              <a:buNone/>
            </a:pPr>
            <a:r>
              <a:rPr lang="en-US" sz="1700" dirty="0">
                <a:solidFill>
                  <a:schemeClr val="tx2"/>
                </a:solidFill>
              </a:rPr>
              <a:t>When you click Generate, the website sends your answers to one web address. API Gateway receives them and passes them to Lambda.</a:t>
            </a:r>
            <a:endParaRPr lang="en-US" sz="1700" dirty="0"/>
          </a:p>
        </p:txBody>
      </p:sp>
      <p:sp>
        <p:nvSpPr>
          <p:cNvPr id="13" name="api gateway row 2 circle"/>
          <p:cNvSpPr/>
          <p:nvPr/>
        </p:nvSpPr>
        <p:spPr>
          <a:xfrm>
            <a:off x="4846320" y="3063240"/>
            <a:ext cx="685800" cy="685800"/>
          </a:xfrm>
          <a:prstGeom prst="ellipse">
            <a:avLst/>
          </a:prstGeom>
          <a:solidFill>
            <a:schemeClr val="accent1"/>
          </a:solidFill>
          <a:ln/>
        </p:spPr>
      </p:sp>
      <p:pic>
        <p:nvPicPr>
          <p:cNvPr id="14" name="api gateway row 2 icon" descr="api gateway row 2">    </p:cNvPr>
          <p:cNvPicPr>
            <a:picLocks noChangeAspect="1"/>
          </p:cNvPicPr>
          <p:nvPr/>
        </p:nvPicPr>
        <p:blipFill>
          <a:blip r:embed="rId3"/>
          <a:stretch>
            <a:fillRect/>
          </a:stretch>
        </p:blipFill>
        <p:spPr>
          <a:xfrm>
            <a:off x="5017770" y="3234690"/>
            <a:ext cx="342900" cy="342900"/>
          </a:xfrm>
          <a:prstGeom prst="rect">
            <a:avLst/>
          </a:prstGeom>
        </p:spPr>
      </p:pic>
      <p:sp>
        <p:nvSpPr>
          <p:cNvPr id="15" name="Text 10"/>
          <p:cNvSpPr txBox="1"/>
          <p:nvPr/>
        </p:nvSpPr>
        <p:spPr>
          <a:xfrm>
            <a:off x="5760720" y="3017520"/>
            <a:ext cx="5852160" cy="411480"/>
          </a:xfrm>
          <a:prstGeom prst="rect">
            <a:avLst/>
          </a:prstGeom>
          <a:noFill/>
          <a:ln/>
        </p:spPr>
        <p:txBody>
          <a:bodyPr wrap="square" lIns="0" tIns="0" rIns="0" bIns="0" rtlCol="0" anchor="t"/>
          <a:lstStyle/>
          <a:p>
            <a:pPr indent="0" marL="0">
              <a:buNone/>
            </a:pPr>
            <a:r>
              <a:rPr lang="en-US" sz="2000" b="1" dirty="0">
                <a:solidFill>
                  <a:schemeClr val="tx1"/>
                </a:solidFill>
              </a:rPr>
              <a:t>Think of it like</a:t>
            </a:r>
            <a:endParaRPr lang="en-US" sz="2000" dirty="0"/>
          </a:p>
        </p:txBody>
      </p:sp>
      <p:sp>
        <p:nvSpPr>
          <p:cNvPr id="16" name="Text 11"/>
          <p:cNvSpPr txBox="1"/>
          <p:nvPr/>
        </p:nvSpPr>
        <p:spPr>
          <a:xfrm>
            <a:off x="5760720" y="3474720"/>
            <a:ext cx="5852160" cy="1005840"/>
          </a:xfrm>
          <a:prstGeom prst="rect">
            <a:avLst/>
          </a:prstGeom>
          <a:noFill/>
          <a:ln/>
        </p:spPr>
        <p:txBody>
          <a:bodyPr wrap="square" lIns="0" tIns="0" rIns="0" bIns="0" rtlCol="0" anchor="t"/>
          <a:lstStyle/>
          <a:p>
            <a:pPr indent="0" marL="0">
              <a:buNone/>
            </a:pPr>
            <a:r>
              <a:rPr lang="en-US" sz="1700" dirty="0">
                <a:solidFill>
                  <a:schemeClr val="tx2"/>
                </a:solidFill>
              </a:rPr>
              <a:t>The front desk of a building. It greets visitors and sends them to the right room.</a:t>
            </a:r>
            <a:endParaRPr lang="en-US" sz="1700" dirty="0"/>
          </a:p>
        </p:txBody>
      </p:sp>
      <p:sp>
        <p:nvSpPr>
          <p:cNvPr id="17" name="api gateway row 3 circle"/>
          <p:cNvSpPr/>
          <p:nvPr/>
        </p:nvSpPr>
        <p:spPr>
          <a:xfrm>
            <a:off x="4846320" y="4617720"/>
            <a:ext cx="685800" cy="685800"/>
          </a:xfrm>
          <a:prstGeom prst="ellipse">
            <a:avLst/>
          </a:prstGeom>
          <a:solidFill>
            <a:schemeClr val="accent1"/>
          </a:solidFill>
          <a:ln/>
        </p:spPr>
      </p:sp>
      <p:pic>
        <p:nvPicPr>
          <p:cNvPr id="18" name="api gateway row 3 icon" descr="api gateway row 3">    </p:cNvPr>
          <p:cNvPicPr>
            <a:picLocks noChangeAspect="1"/>
          </p:cNvPicPr>
          <p:nvPr/>
        </p:nvPicPr>
        <p:blipFill>
          <a:blip r:embed="rId4"/>
          <a:stretch>
            <a:fillRect/>
          </a:stretch>
        </p:blipFill>
        <p:spPr>
          <a:xfrm>
            <a:off x="5017770" y="4789170"/>
            <a:ext cx="342900" cy="342900"/>
          </a:xfrm>
          <a:prstGeom prst="rect">
            <a:avLst/>
          </a:prstGeom>
        </p:spPr>
      </p:pic>
      <p:sp>
        <p:nvSpPr>
          <p:cNvPr id="19" name="Text 13"/>
          <p:cNvSpPr txBox="1"/>
          <p:nvPr/>
        </p:nvSpPr>
        <p:spPr>
          <a:xfrm>
            <a:off x="5760720" y="457200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Why it helps</a:t>
            </a:r>
            <a:endParaRPr lang="en-US" sz="2000" dirty="0"/>
          </a:p>
        </p:txBody>
      </p:sp>
      <p:sp>
        <p:nvSpPr>
          <p:cNvPr id="20" name="Text 14"/>
          <p:cNvSpPr txBox="1"/>
          <p:nvPr/>
        </p:nvSpPr>
        <p:spPr>
          <a:xfrm>
            <a:off x="5760720" y="5029200"/>
            <a:ext cx="5852160" cy="1005840"/>
          </a:xfrm>
          <a:prstGeom prst="rect">
            <a:avLst/>
          </a:prstGeom>
          <a:noFill/>
          <a:ln/>
        </p:spPr>
        <p:txBody>
          <a:bodyPr wrap="square" lIns="0" tIns="0" rIns="0" bIns="0" rtlCol="0" anchor="t"/>
          <a:lstStyle/>
          <a:p>
            <a:pPr indent="0" marL="0">
              <a:buNone/>
            </a:pPr>
            <a:r>
              <a:rPr lang="en-US" sz="1700" dirty="0">
                <a:solidFill>
                  <a:schemeClr val="tx2"/>
                </a:solidFill>
              </a:rPr>
              <a:t>It keeps our code safe behind one door. It can also limit how many requests come in at once.</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AWS Lambda: our code, ready when needed</a:t>
            </a:r>
            <a:endParaRPr lang="en-US" sz="3600" dirty="0"/>
          </a:p>
        </p:txBody>
      </p:sp>
      <p:sp>
        <p:nvSpPr>
          <p:cNvPr id="3" name="lambda panel"/>
          <p:cNvSpPr/>
          <p:nvPr/>
        </p:nvSpPr>
        <p:spPr>
          <a:xfrm>
            <a:off x="548640" y="1463040"/>
            <a:ext cx="3931920" cy="4480560"/>
          </a:xfrm>
          <a:prstGeom prst="roundRect">
            <a:avLst>
              <a:gd name="adj" fmla="val 3488"/>
            </a:avLst>
          </a:prstGeom>
          <a:solidFill>
            <a:schemeClr val="tx1"/>
          </a:solidFill>
          <a:ln/>
        </p:spPr>
      </p:sp>
      <p:sp>
        <p:nvSpPr>
          <p:cNvPr id="4" name="lambda circle"/>
          <p:cNvSpPr/>
          <p:nvPr/>
        </p:nvSpPr>
        <p:spPr>
          <a:xfrm>
            <a:off x="914400" y="1783080"/>
            <a:ext cx="1097280" cy="1097280"/>
          </a:xfrm>
          <a:prstGeom prst="ellipse">
            <a:avLst/>
          </a:prstGeom>
          <a:solidFill>
            <a:schemeClr val="accent1"/>
          </a:solidFill>
          <a:ln/>
        </p:spPr>
      </p:sp>
      <p:pic>
        <p:nvPicPr>
          <p:cNvPr id="5" name="lambda icon" descr="lambda">    </p:cNvPr>
          <p:cNvPicPr>
            <a:picLocks noChangeAspect="1"/>
          </p:cNvPicPr>
          <p:nvPr/>
        </p:nvPicPr>
        <p:blipFill>
          <a:blip r:embed="rId1"/>
          <a:stretch>
            <a:fillRect/>
          </a:stretch>
        </p:blipFill>
        <p:spPr>
          <a:xfrm>
            <a:off x="1188720" y="2057400"/>
            <a:ext cx="548640" cy="548640"/>
          </a:xfrm>
          <a:prstGeom prst="rect">
            <a:avLst/>
          </a:prstGeom>
        </p:spPr>
      </p:pic>
      <p:sp>
        <p:nvSpPr>
          <p:cNvPr id="6" name="Text 3"/>
          <p:cNvSpPr txBox="1"/>
          <p:nvPr/>
        </p:nvSpPr>
        <p:spPr>
          <a:xfrm>
            <a:off x="914400" y="3063240"/>
            <a:ext cx="3200400" cy="1188720"/>
          </a:xfrm>
          <a:prstGeom prst="rect">
            <a:avLst/>
          </a:prstGeom>
          <a:noFill/>
          <a:ln/>
        </p:spPr>
        <p:txBody>
          <a:bodyPr wrap="square" lIns="0" tIns="0" rIns="0" bIns="0" rtlCol="0" anchor="t"/>
          <a:lstStyle/>
          <a:p>
            <a:pPr indent="0" marL="0">
              <a:buNone/>
            </a:pPr>
            <a:r>
              <a:rPr lang="en-US" sz="2000" b="1" dirty="0">
                <a:solidFill>
                  <a:schemeClr val="bg1"/>
                </a:solidFill>
              </a:rPr>
              <a:t>Lambda runs code without you owning a computer.</a:t>
            </a:r>
            <a:endParaRPr lang="en-US" sz="2000" dirty="0"/>
          </a:p>
        </p:txBody>
      </p:sp>
      <p:sp>
        <p:nvSpPr>
          <p:cNvPr id="7" name="Text 4"/>
          <p:cNvSpPr txBox="1"/>
          <p:nvPr/>
        </p:nvSpPr>
        <p:spPr>
          <a:xfrm>
            <a:off x="914400" y="4389120"/>
            <a:ext cx="32004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NEW WORD</a:t>
            </a:r>
            <a:endParaRPr lang="en-US" sz="1400" dirty="0"/>
          </a:p>
        </p:txBody>
      </p:sp>
      <p:sp>
        <p:nvSpPr>
          <p:cNvPr id="8" name="Text 5"/>
          <p:cNvSpPr txBox="1"/>
          <p:nvPr/>
        </p:nvSpPr>
        <p:spPr>
          <a:xfrm>
            <a:off x="914400" y="4709160"/>
            <a:ext cx="3200400" cy="1097280"/>
          </a:xfrm>
          <a:prstGeom prst="rect">
            <a:avLst/>
          </a:prstGeom>
          <a:noFill/>
          <a:ln/>
        </p:spPr>
        <p:txBody>
          <a:bodyPr wrap="square" lIns="0" tIns="0" rIns="0" bIns="0" rtlCol="0" anchor="t"/>
          <a:lstStyle/>
          <a:p>
            <a:pPr indent="0" marL="0">
              <a:buNone/>
            </a:pPr>
            <a:r>
              <a:rPr lang="en-US" sz="1600" b="1" dirty="0">
                <a:solidFill>
                  <a:schemeClr val="bg1"/>
                </a:solidFill>
              </a:rPr>
              <a:t>Serverless: </a:t>
            </a:r>
            <a:pPr indent="0" marL="0">
              <a:buNone/>
            </a:pPr>
            <a:r>
              <a:rPr lang="en-US" sz="1600" dirty="0">
                <a:solidFill>
                  <a:schemeClr val="bg1"/>
                </a:solidFill>
              </a:rPr>
              <a:t>you don't manage any servers. AWS does it for you.</a:t>
            </a:r>
            <a:endParaRPr lang="en-US" sz="1600" dirty="0"/>
          </a:p>
        </p:txBody>
      </p:sp>
      <p:sp>
        <p:nvSpPr>
          <p:cNvPr id="9" name="lambda row 1 circle"/>
          <p:cNvSpPr/>
          <p:nvPr/>
        </p:nvSpPr>
        <p:spPr>
          <a:xfrm>
            <a:off x="4846320" y="1508760"/>
            <a:ext cx="685800" cy="685800"/>
          </a:xfrm>
          <a:prstGeom prst="ellipse">
            <a:avLst/>
          </a:prstGeom>
          <a:solidFill>
            <a:schemeClr val="accent1"/>
          </a:solidFill>
          <a:ln/>
        </p:spPr>
      </p:sp>
      <p:pic>
        <p:nvPicPr>
          <p:cNvPr id="10" name="lambda row 1 icon" descr="lambda row 1">    </p:cNvPr>
          <p:cNvPicPr>
            <a:picLocks noChangeAspect="1"/>
          </p:cNvPicPr>
          <p:nvPr/>
        </p:nvPicPr>
        <p:blipFill>
          <a:blip r:embed="rId2"/>
          <a:stretch>
            <a:fillRect/>
          </a:stretch>
        </p:blipFill>
        <p:spPr>
          <a:xfrm>
            <a:off x="5017770" y="1680210"/>
            <a:ext cx="342900" cy="342900"/>
          </a:xfrm>
          <a:prstGeom prst="rect">
            <a:avLst/>
          </a:prstGeom>
        </p:spPr>
      </p:pic>
      <p:sp>
        <p:nvSpPr>
          <p:cNvPr id="11" name="Text 7"/>
          <p:cNvSpPr txBox="1"/>
          <p:nvPr/>
        </p:nvSpPr>
        <p:spPr>
          <a:xfrm>
            <a:off x="5760720" y="146304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What it does in our app</a:t>
            </a:r>
            <a:endParaRPr lang="en-US" sz="2000" dirty="0"/>
          </a:p>
        </p:txBody>
      </p:sp>
      <p:sp>
        <p:nvSpPr>
          <p:cNvPr id="12" name="Text 8"/>
          <p:cNvSpPr txBox="1"/>
          <p:nvPr/>
        </p:nvSpPr>
        <p:spPr>
          <a:xfrm>
            <a:off x="5760720" y="1920240"/>
            <a:ext cx="5852160" cy="1005840"/>
          </a:xfrm>
          <a:prstGeom prst="rect">
            <a:avLst/>
          </a:prstGeom>
          <a:noFill/>
          <a:ln/>
        </p:spPr>
        <p:txBody>
          <a:bodyPr wrap="square" lIns="0" tIns="0" rIns="0" bIns="0" rtlCol="0" anchor="t"/>
          <a:lstStyle/>
          <a:p>
            <a:pPr indent="0" marL="0">
              <a:buNone/>
            </a:pPr>
            <a:r>
              <a:rPr lang="en-US" sz="1700" dirty="0">
                <a:solidFill>
                  <a:schemeClr val="tx2"/>
                </a:solidFill>
              </a:rPr>
              <a:t>Our Python code reads your answers, writes clear instructions for the AI, and sends the AI's answer back to you.</a:t>
            </a:r>
            <a:endParaRPr lang="en-US" sz="1700" dirty="0"/>
          </a:p>
        </p:txBody>
      </p:sp>
      <p:sp>
        <p:nvSpPr>
          <p:cNvPr id="13" name="lambda row 2 circle"/>
          <p:cNvSpPr/>
          <p:nvPr/>
        </p:nvSpPr>
        <p:spPr>
          <a:xfrm>
            <a:off x="4846320" y="3063240"/>
            <a:ext cx="685800" cy="685800"/>
          </a:xfrm>
          <a:prstGeom prst="ellipse">
            <a:avLst/>
          </a:prstGeom>
          <a:solidFill>
            <a:schemeClr val="accent1"/>
          </a:solidFill>
          <a:ln/>
        </p:spPr>
      </p:sp>
      <p:pic>
        <p:nvPicPr>
          <p:cNvPr id="14" name="lambda row 2 icon" descr="lambda row 2">    </p:cNvPr>
          <p:cNvPicPr>
            <a:picLocks noChangeAspect="1"/>
          </p:cNvPicPr>
          <p:nvPr/>
        </p:nvPicPr>
        <p:blipFill>
          <a:blip r:embed="rId3"/>
          <a:stretch>
            <a:fillRect/>
          </a:stretch>
        </p:blipFill>
        <p:spPr>
          <a:xfrm>
            <a:off x="5017770" y="3234690"/>
            <a:ext cx="342900" cy="342900"/>
          </a:xfrm>
          <a:prstGeom prst="rect">
            <a:avLst/>
          </a:prstGeom>
        </p:spPr>
      </p:pic>
      <p:sp>
        <p:nvSpPr>
          <p:cNvPr id="15" name="Text 10"/>
          <p:cNvSpPr txBox="1"/>
          <p:nvPr/>
        </p:nvSpPr>
        <p:spPr>
          <a:xfrm>
            <a:off x="5760720" y="3017520"/>
            <a:ext cx="5852160" cy="411480"/>
          </a:xfrm>
          <a:prstGeom prst="rect">
            <a:avLst/>
          </a:prstGeom>
          <a:noFill/>
          <a:ln/>
        </p:spPr>
        <p:txBody>
          <a:bodyPr wrap="square" lIns="0" tIns="0" rIns="0" bIns="0" rtlCol="0" anchor="t"/>
          <a:lstStyle/>
          <a:p>
            <a:pPr indent="0" marL="0">
              <a:buNone/>
            </a:pPr>
            <a:r>
              <a:rPr lang="en-US" sz="2000" b="1" dirty="0">
                <a:solidFill>
                  <a:schemeClr val="tx1"/>
                </a:solidFill>
              </a:rPr>
              <a:t>Think of it like</a:t>
            </a:r>
            <a:endParaRPr lang="en-US" sz="2000" dirty="0"/>
          </a:p>
        </p:txBody>
      </p:sp>
      <p:sp>
        <p:nvSpPr>
          <p:cNvPr id="16" name="Text 11"/>
          <p:cNvSpPr txBox="1"/>
          <p:nvPr/>
        </p:nvSpPr>
        <p:spPr>
          <a:xfrm>
            <a:off x="5760720" y="3474720"/>
            <a:ext cx="5852160" cy="1005840"/>
          </a:xfrm>
          <a:prstGeom prst="rect">
            <a:avLst/>
          </a:prstGeom>
          <a:noFill/>
          <a:ln/>
        </p:spPr>
        <p:txBody>
          <a:bodyPr wrap="square" lIns="0" tIns="0" rIns="0" bIns="0" rtlCol="0" anchor="t"/>
          <a:lstStyle/>
          <a:p>
            <a:pPr indent="0" marL="0">
              <a:buNone/>
            </a:pPr>
            <a:r>
              <a:rPr lang="en-US" sz="1700" dirty="0">
                <a:solidFill>
                  <a:schemeClr val="tx2"/>
                </a:solidFill>
              </a:rPr>
              <a:t>A cook who only comes in when an order arrives. No orders means no cost.</a:t>
            </a:r>
            <a:endParaRPr lang="en-US" sz="1700" dirty="0"/>
          </a:p>
        </p:txBody>
      </p:sp>
      <p:sp>
        <p:nvSpPr>
          <p:cNvPr id="17" name="lambda row 3 circle"/>
          <p:cNvSpPr/>
          <p:nvPr/>
        </p:nvSpPr>
        <p:spPr>
          <a:xfrm>
            <a:off x="4846320" y="4617720"/>
            <a:ext cx="685800" cy="685800"/>
          </a:xfrm>
          <a:prstGeom prst="ellipse">
            <a:avLst/>
          </a:prstGeom>
          <a:solidFill>
            <a:schemeClr val="accent1"/>
          </a:solidFill>
          <a:ln/>
        </p:spPr>
      </p:sp>
      <p:pic>
        <p:nvPicPr>
          <p:cNvPr id="18" name="lambda row 3 icon" descr="lambda row 3">    </p:cNvPr>
          <p:cNvPicPr>
            <a:picLocks noChangeAspect="1"/>
          </p:cNvPicPr>
          <p:nvPr/>
        </p:nvPicPr>
        <p:blipFill>
          <a:blip r:embed="rId4"/>
          <a:stretch>
            <a:fillRect/>
          </a:stretch>
        </p:blipFill>
        <p:spPr>
          <a:xfrm>
            <a:off x="5017770" y="4789170"/>
            <a:ext cx="342900" cy="342900"/>
          </a:xfrm>
          <a:prstGeom prst="rect">
            <a:avLst/>
          </a:prstGeom>
        </p:spPr>
      </p:pic>
      <p:sp>
        <p:nvSpPr>
          <p:cNvPr id="19" name="Text 13"/>
          <p:cNvSpPr txBox="1"/>
          <p:nvPr/>
        </p:nvSpPr>
        <p:spPr>
          <a:xfrm>
            <a:off x="5760720" y="457200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Why it helps</a:t>
            </a:r>
            <a:endParaRPr lang="en-US" sz="2000" dirty="0"/>
          </a:p>
        </p:txBody>
      </p:sp>
      <p:sp>
        <p:nvSpPr>
          <p:cNvPr id="20" name="Text 14"/>
          <p:cNvSpPr txBox="1"/>
          <p:nvPr/>
        </p:nvSpPr>
        <p:spPr>
          <a:xfrm>
            <a:off x="5760720" y="5029200"/>
            <a:ext cx="5852160" cy="1005840"/>
          </a:xfrm>
          <a:prstGeom prst="rect">
            <a:avLst/>
          </a:prstGeom>
          <a:noFill/>
          <a:ln/>
        </p:spPr>
        <p:txBody>
          <a:bodyPr wrap="square" lIns="0" tIns="0" rIns="0" bIns="0" rtlCol="0" anchor="t"/>
          <a:lstStyle/>
          <a:p>
            <a:pPr indent="0" marL="0">
              <a:buNone/>
            </a:pPr>
            <a:r>
              <a:rPr lang="en-US" sz="1700" dirty="0">
                <a:solidFill>
                  <a:schemeClr val="tx2"/>
                </a:solidFill>
              </a:rPr>
              <a:t>No servers to buy or fix. You only pay for the time your code is running.</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Amazon Bedrock: the AI brain</a:t>
            </a:r>
            <a:endParaRPr lang="en-US" sz="3600" dirty="0"/>
          </a:p>
        </p:txBody>
      </p:sp>
      <p:sp>
        <p:nvSpPr>
          <p:cNvPr id="3" name="bedrock panel"/>
          <p:cNvSpPr/>
          <p:nvPr/>
        </p:nvSpPr>
        <p:spPr>
          <a:xfrm>
            <a:off x="548640" y="1463040"/>
            <a:ext cx="3931920" cy="4480560"/>
          </a:xfrm>
          <a:prstGeom prst="roundRect">
            <a:avLst>
              <a:gd name="adj" fmla="val 3488"/>
            </a:avLst>
          </a:prstGeom>
          <a:solidFill>
            <a:schemeClr val="tx1"/>
          </a:solidFill>
          <a:ln/>
        </p:spPr>
      </p:sp>
      <p:sp>
        <p:nvSpPr>
          <p:cNvPr id="4" name="bedrock circle"/>
          <p:cNvSpPr/>
          <p:nvPr/>
        </p:nvSpPr>
        <p:spPr>
          <a:xfrm>
            <a:off x="914400" y="1783080"/>
            <a:ext cx="1097280" cy="1097280"/>
          </a:xfrm>
          <a:prstGeom prst="ellipse">
            <a:avLst/>
          </a:prstGeom>
          <a:solidFill>
            <a:schemeClr val="accent1"/>
          </a:solidFill>
          <a:ln/>
        </p:spPr>
      </p:sp>
      <p:pic>
        <p:nvPicPr>
          <p:cNvPr id="5" name="bedrock icon" descr="bedrock">    </p:cNvPr>
          <p:cNvPicPr>
            <a:picLocks noChangeAspect="1"/>
          </p:cNvPicPr>
          <p:nvPr/>
        </p:nvPicPr>
        <p:blipFill>
          <a:blip r:embed="rId1"/>
          <a:stretch>
            <a:fillRect/>
          </a:stretch>
        </p:blipFill>
        <p:spPr>
          <a:xfrm>
            <a:off x="1188720" y="2057400"/>
            <a:ext cx="548640" cy="548640"/>
          </a:xfrm>
          <a:prstGeom prst="rect">
            <a:avLst/>
          </a:prstGeom>
        </p:spPr>
      </p:pic>
      <p:sp>
        <p:nvSpPr>
          <p:cNvPr id="6" name="Text 3"/>
          <p:cNvSpPr txBox="1"/>
          <p:nvPr/>
        </p:nvSpPr>
        <p:spPr>
          <a:xfrm>
            <a:off x="914400" y="3063240"/>
            <a:ext cx="3200400" cy="1188720"/>
          </a:xfrm>
          <a:prstGeom prst="rect">
            <a:avLst/>
          </a:prstGeom>
          <a:noFill/>
          <a:ln/>
        </p:spPr>
        <p:txBody>
          <a:bodyPr wrap="square" lIns="0" tIns="0" rIns="0" bIns="0" rtlCol="0" anchor="t"/>
          <a:lstStyle/>
          <a:p>
            <a:pPr indent="0" marL="0">
              <a:buNone/>
            </a:pPr>
            <a:r>
              <a:rPr lang="en-US" sz="2000" b="1" dirty="0">
                <a:solidFill>
                  <a:schemeClr val="bg1"/>
                </a:solidFill>
              </a:rPr>
              <a:t>Bedrock lets apps use powerful AI models.</a:t>
            </a:r>
            <a:endParaRPr lang="en-US" sz="2000" dirty="0"/>
          </a:p>
        </p:txBody>
      </p:sp>
      <p:sp>
        <p:nvSpPr>
          <p:cNvPr id="7" name="Text 4"/>
          <p:cNvSpPr txBox="1"/>
          <p:nvPr/>
        </p:nvSpPr>
        <p:spPr>
          <a:xfrm>
            <a:off x="914400" y="4389120"/>
            <a:ext cx="32004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NEW WORD</a:t>
            </a:r>
            <a:endParaRPr lang="en-US" sz="1400" dirty="0"/>
          </a:p>
        </p:txBody>
      </p:sp>
      <p:sp>
        <p:nvSpPr>
          <p:cNvPr id="8" name="Text 5"/>
          <p:cNvSpPr txBox="1"/>
          <p:nvPr/>
        </p:nvSpPr>
        <p:spPr>
          <a:xfrm>
            <a:off x="914400" y="4709160"/>
            <a:ext cx="3200400" cy="1097280"/>
          </a:xfrm>
          <a:prstGeom prst="rect">
            <a:avLst/>
          </a:prstGeom>
          <a:noFill/>
          <a:ln/>
        </p:spPr>
        <p:txBody>
          <a:bodyPr wrap="square" lIns="0" tIns="0" rIns="0" bIns="0" rtlCol="0" anchor="t"/>
          <a:lstStyle/>
          <a:p>
            <a:pPr indent="0" marL="0">
              <a:buNone/>
            </a:pPr>
            <a:r>
              <a:rPr lang="en-US" sz="1600" b="1" dirty="0">
                <a:solidFill>
                  <a:schemeClr val="bg1"/>
                </a:solidFill>
              </a:rPr>
              <a:t>Prompt: </a:t>
            </a:r>
            <a:pPr indent="0" marL="0">
              <a:buNone/>
            </a:pPr>
            <a:r>
              <a:rPr lang="en-US" sz="1600" dirty="0">
                <a:solidFill>
                  <a:schemeClr val="bg1"/>
                </a:solidFill>
              </a:rPr>
              <a:t>the instructions you give an AI.</a:t>
            </a:r>
            <a:endParaRPr lang="en-US" sz="1600" dirty="0"/>
          </a:p>
        </p:txBody>
      </p:sp>
      <p:sp>
        <p:nvSpPr>
          <p:cNvPr id="9" name="bedrock row 1 circle"/>
          <p:cNvSpPr/>
          <p:nvPr/>
        </p:nvSpPr>
        <p:spPr>
          <a:xfrm>
            <a:off x="4846320" y="1508760"/>
            <a:ext cx="685800" cy="685800"/>
          </a:xfrm>
          <a:prstGeom prst="ellipse">
            <a:avLst/>
          </a:prstGeom>
          <a:solidFill>
            <a:schemeClr val="accent1"/>
          </a:solidFill>
          <a:ln/>
        </p:spPr>
      </p:sp>
      <p:pic>
        <p:nvPicPr>
          <p:cNvPr id="10" name="bedrock row 1 icon" descr="bedrock row 1">    </p:cNvPr>
          <p:cNvPicPr>
            <a:picLocks noChangeAspect="1"/>
          </p:cNvPicPr>
          <p:nvPr/>
        </p:nvPicPr>
        <p:blipFill>
          <a:blip r:embed="rId2"/>
          <a:stretch>
            <a:fillRect/>
          </a:stretch>
        </p:blipFill>
        <p:spPr>
          <a:xfrm>
            <a:off x="5017770" y="1680210"/>
            <a:ext cx="342900" cy="342900"/>
          </a:xfrm>
          <a:prstGeom prst="rect">
            <a:avLst/>
          </a:prstGeom>
        </p:spPr>
      </p:pic>
      <p:sp>
        <p:nvSpPr>
          <p:cNvPr id="11" name="Text 7"/>
          <p:cNvSpPr txBox="1"/>
          <p:nvPr/>
        </p:nvSpPr>
        <p:spPr>
          <a:xfrm>
            <a:off x="5760720" y="146304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What it does in our app</a:t>
            </a:r>
            <a:endParaRPr lang="en-US" sz="2000" dirty="0"/>
          </a:p>
        </p:txBody>
      </p:sp>
      <p:sp>
        <p:nvSpPr>
          <p:cNvPr id="12" name="Text 8"/>
          <p:cNvSpPr txBox="1"/>
          <p:nvPr/>
        </p:nvSpPr>
        <p:spPr>
          <a:xfrm>
            <a:off x="5760720" y="1920240"/>
            <a:ext cx="5852160" cy="1005840"/>
          </a:xfrm>
          <a:prstGeom prst="rect">
            <a:avLst/>
          </a:prstGeom>
          <a:noFill/>
          <a:ln/>
        </p:spPr>
        <p:txBody>
          <a:bodyPr wrap="square" lIns="0" tIns="0" rIns="0" bIns="0" rtlCol="0" anchor="t"/>
          <a:lstStyle/>
          <a:p>
            <a:pPr indent="0" marL="0">
              <a:buNone/>
            </a:pPr>
            <a:r>
              <a:rPr lang="en-US" sz="1700" dirty="0">
                <a:solidFill>
                  <a:schemeClr val="tx2"/>
                </a:solidFill>
              </a:rPr>
              <a:t>It sends our instructions to an AI model called Amazon Nova Pro. Nova writes your skills, certifications, projects, and 90-day plan.</a:t>
            </a:r>
            <a:endParaRPr lang="en-US" sz="1700" dirty="0"/>
          </a:p>
        </p:txBody>
      </p:sp>
      <p:sp>
        <p:nvSpPr>
          <p:cNvPr id="13" name="bedrock row 2 circle"/>
          <p:cNvSpPr/>
          <p:nvPr/>
        </p:nvSpPr>
        <p:spPr>
          <a:xfrm>
            <a:off x="4846320" y="3063240"/>
            <a:ext cx="685800" cy="685800"/>
          </a:xfrm>
          <a:prstGeom prst="ellipse">
            <a:avLst/>
          </a:prstGeom>
          <a:solidFill>
            <a:schemeClr val="accent1"/>
          </a:solidFill>
          <a:ln/>
        </p:spPr>
      </p:sp>
      <p:pic>
        <p:nvPicPr>
          <p:cNvPr id="14" name="bedrock row 2 icon" descr="bedrock row 2">    </p:cNvPr>
          <p:cNvPicPr>
            <a:picLocks noChangeAspect="1"/>
          </p:cNvPicPr>
          <p:nvPr/>
        </p:nvPicPr>
        <p:blipFill>
          <a:blip r:embed="rId3"/>
          <a:stretch>
            <a:fillRect/>
          </a:stretch>
        </p:blipFill>
        <p:spPr>
          <a:xfrm>
            <a:off x="5017770" y="3234690"/>
            <a:ext cx="342900" cy="342900"/>
          </a:xfrm>
          <a:prstGeom prst="rect">
            <a:avLst/>
          </a:prstGeom>
        </p:spPr>
      </p:pic>
      <p:sp>
        <p:nvSpPr>
          <p:cNvPr id="15" name="Text 10"/>
          <p:cNvSpPr txBox="1"/>
          <p:nvPr/>
        </p:nvSpPr>
        <p:spPr>
          <a:xfrm>
            <a:off x="5760720" y="3017520"/>
            <a:ext cx="5852160" cy="411480"/>
          </a:xfrm>
          <a:prstGeom prst="rect">
            <a:avLst/>
          </a:prstGeom>
          <a:noFill/>
          <a:ln/>
        </p:spPr>
        <p:txBody>
          <a:bodyPr wrap="square" lIns="0" tIns="0" rIns="0" bIns="0" rtlCol="0" anchor="t"/>
          <a:lstStyle/>
          <a:p>
            <a:pPr indent="0" marL="0">
              <a:buNone/>
            </a:pPr>
            <a:r>
              <a:rPr lang="en-US" sz="2000" b="1" dirty="0">
                <a:solidFill>
                  <a:schemeClr val="tx1"/>
                </a:solidFill>
              </a:rPr>
              <a:t>Think of it like</a:t>
            </a:r>
            <a:endParaRPr lang="en-US" sz="2000" dirty="0"/>
          </a:p>
        </p:txBody>
      </p:sp>
      <p:sp>
        <p:nvSpPr>
          <p:cNvPr id="16" name="Text 11"/>
          <p:cNvSpPr txBox="1"/>
          <p:nvPr/>
        </p:nvSpPr>
        <p:spPr>
          <a:xfrm>
            <a:off x="5760720" y="3474720"/>
            <a:ext cx="5852160" cy="1005840"/>
          </a:xfrm>
          <a:prstGeom prst="rect">
            <a:avLst/>
          </a:prstGeom>
          <a:noFill/>
          <a:ln/>
        </p:spPr>
        <p:txBody>
          <a:bodyPr wrap="square" lIns="0" tIns="0" rIns="0" bIns="0" rtlCol="0" anchor="t"/>
          <a:lstStyle/>
          <a:p>
            <a:pPr indent="0" marL="0">
              <a:buNone/>
            </a:pPr>
            <a:r>
              <a:rPr lang="en-US" sz="1700" dirty="0">
                <a:solidFill>
                  <a:schemeClr val="tx2"/>
                </a:solidFill>
              </a:rPr>
              <a:t>A team of expert chefs. You pick one, tell them what you want, and they create it.</a:t>
            </a:r>
            <a:endParaRPr lang="en-US" sz="1700" dirty="0"/>
          </a:p>
        </p:txBody>
      </p:sp>
      <p:sp>
        <p:nvSpPr>
          <p:cNvPr id="17" name="bedrock row 3 circle"/>
          <p:cNvSpPr/>
          <p:nvPr/>
        </p:nvSpPr>
        <p:spPr>
          <a:xfrm>
            <a:off x="4846320" y="4617720"/>
            <a:ext cx="685800" cy="685800"/>
          </a:xfrm>
          <a:prstGeom prst="ellipse">
            <a:avLst/>
          </a:prstGeom>
          <a:solidFill>
            <a:schemeClr val="accent1"/>
          </a:solidFill>
          <a:ln/>
        </p:spPr>
      </p:sp>
      <p:pic>
        <p:nvPicPr>
          <p:cNvPr id="18" name="bedrock row 3 icon" descr="bedrock row 3">    </p:cNvPr>
          <p:cNvPicPr>
            <a:picLocks noChangeAspect="1"/>
          </p:cNvPicPr>
          <p:nvPr/>
        </p:nvPicPr>
        <p:blipFill>
          <a:blip r:embed="rId4"/>
          <a:stretch>
            <a:fillRect/>
          </a:stretch>
        </p:blipFill>
        <p:spPr>
          <a:xfrm>
            <a:off x="5017770" y="4789170"/>
            <a:ext cx="342900" cy="342900"/>
          </a:xfrm>
          <a:prstGeom prst="rect">
            <a:avLst/>
          </a:prstGeom>
        </p:spPr>
      </p:pic>
      <p:sp>
        <p:nvSpPr>
          <p:cNvPr id="19" name="Text 13"/>
          <p:cNvSpPr txBox="1"/>
          <p:nvPr/>
        </p:nvSpPr>
        <p:spPr>
          <a:xfrm>
            <a:off x="5760720" y="4572000"/>
            <a:ext cx="5852160" cy="411480"/>
          </a:xfrm>
          <a:prstGeom prst="rect">
            <a:avLst/>
          </a:prstGeom>
          <a:noFill/>
          <a:ln/>
        </p:spPr>
        <p:txBody>
          <a:bodyPr wrap="square" lIns="0" tIns="0" rIns="0" bIns="0" rtlCol="0" anchor="t"/>
          <a:lstStyle/>
          <a:p>
            <a:pPr indent="0" marL="0">
              <a:buNone/>
            </a:pPr>
            <a:r>
              <a:rPr lang="en-US" sz="2000" b="1" dirty="0">
                <a:solidFill>
                  <a:schemeClr val="tx1"/>
                </a:solidFill>
              </a:rPr>
              <a:t>Why it helps</a:t>
            </a:r>
            <a:endParaRPr lang="en-US" sz="2000" dirty="0"/>
          </a:p>
        </p:txBody>
      </p:sp>
      <p:sp>
        <p:nvSpPr>
          <p:cNvPr id="20" name="Text 14"/>
          <p:cNvSpPr txBox="1"/>
          <p:nvPr/>
        </p:nvSpPr>
        <p:spPr>
          <a:xfrm>
            <a:off x="5760720" y="5029200"/>
            <a:ext cx="5852160" cy="1005840"/>
          </a:xfrm>
          <a:prstGeom prst="rect">
            <a:avLst/>
          </a:prstGeom>
          <a:noFill/>
          <a:ln/>
        </p:spPr>
        <p:txBody>
          <a:bodyPr wrap="square" lIns="0" tIns="0" rIns="0" bIns="0" rtlCol="0" anchor="t"/>
          <a:lstStyle/>
          <a:p>
            <a:pPr indent="0" marL="0">
              <a:buNone/>
            </a:pPr>
            <a:r>
              <a:rPr lang="en-US" sz="1700" dirty="0">
                <a:solidFill>
                  <a:schemeClr val="tx2"/>
                </a:solidFill>
              </a:rPr>
              <a:t>We don't have to train our own AI, which costs millions. Each answer costs a tiny amount.</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Two helpers working behind the scenes</a:t>
            </a:r>
            <a:endParaRPr lang="en-US" sz="3600" dirty="0"/>
          </a:p>
        </p:txBody>
      </p:sp>
      <p:sp>
        <p:nvSpPr>
          <p:cNvPr id="3" name="helper 1 card"/>
          <p:cNvSpPr/>
          <p:nvPr/>
        </p:nvSpPr>
        <p:spPr>
          <a:xfrm>
            <a:off x="548640" y="1463040"/>
            <a:ext cx="5440680" cy="4480560"/>
          </a:xfrm>
          <a:prstGeom prst="roundRect">
            <a:avLst>
              <a:gd name="adj" fmla="val 3061"/>
            </a:avLst>
          </a:prstGeom>
          <a:solidFill>
            <a:schemeClr val="bg2"/>
          </a:solidFill>
          <a:ln/>
        </p:spPr>
      </p:sp>
      <p:sp>
        <p:nvSpPr>
          <p:cNvPr id="4" name="helper 1 circle"/>
          <p:cNvSpPr/>
          <p:nvPr/>
        </p:nvSpPr>
        <p:spPr>
          <a:xfrm>
            <a:off x="868680" y="1783080"/>
            <a:ext cx="914400" cy="914400"/>
          </a:xfrm>
          <a:prstGeom prst="ellipse">
            <a:avLst/>
          </a:prstGeom>
          <a:solidFill>
            <a:schemeClr val="accent1"/>
          </a:solidFill>
          <a:ln/>
        </p:spPr>
      </p:sp>
      <p:pic>
        <p:nvPicPr>
          <p:cNvPr id="5" name="helper 1 icon" descr="helper 1">    </p:cNvPr>
          <p:cNvPicPr>
            <a:picLocks noChangeAspect="1"/>
          </p:cNvPicPr>
          <p:nvPr/>
        </p:nvPicPr>
        <p:blipFill>
          <a:blip r:embed="rId1"/>
          <a:stretch>
            <a:fillRect/>
          </a:stretch>
        </p:blipFill>
        <p:spPr>
          <a:xfrm>
            <a:off x="1097280" y="2011680"/>
            <a:ext cx="457200" cy="457200"/>
          </a:xfrm>
          <a:prstGeom prst="rect">
            <a:avLst/>
          </a:prstGeom>
        </p:spPr>
      </p:pic>
      <p:sp>
        <p:nvSpPr>
          <p:cNvPr id="6" name="Text 3"/>
          <p:cNvSpPr txBox="1"/>
          <p:nvPr/>
        </p:nvSpPr>
        <p:spPr>
          <a:xfrm>
            <a:off x="2011680" y="1783080"/>
            <a:ext cx="3749040" cy="457200"/>
          </a:xfrm>
          <a:prstGeom prst="rect">
            <a:avLst/>
          </a:prstGeom>
          <a:noFill/>
          <a:ln/>
        </p:spPr>
        <p:txBody>
          <a:bodyPr wrap="square" lIns="0" tIns="0" rIns="0" bIns="0" rtlCol="0" anchor="t"/>
          <a:lstStyle/>
          <a:p>
            <a:pPr indent="0" marL="0">
              <a:buNone/>
            </a:pPr>
            <a:r>
              <a:rPr lang="en-US" sz="2400" b="1" dirty="0">
                <a:solidFill>
                  <a:schemeClr val="tx1"/>
                </a:solidFill>
              </a:rPr>
              <a:t>AWS IAM</a:t>
            </a:r>
            <a:endParaRPr lang="en-US" sz="2400" dirty="0"/>
          </a:p>
        </p:txBody>
      </p:sp>
      <p:sp>
        <p:nvSpPr>
          <p:cNvPr id="7" name="Text 4"/>
          <p:cNvSpPr txBox="1"/>
          <p:nvPr/>
        </p:nvSpPr>
        <p:spPr>
          <a:xfrm>
            <a:off x="2011680" y="2286000"/>
            <a:ext cx="3749040" cy="457200"/>
          </a:xfrm>
          <a:prstGeom prst="rect">
            <a:avLst/>
          </a:prstGeom>
          <a:noFill/>
          <a:ln/>
        </p:spPr>
        <p:txBody>
          <a:bodyPr wrap="square" lIns="0" tIns="0" rIns="0" bIns="0" rtlCol="0" anchor="t"/>
          <a:lstStyle/>
          <a:p>
            <a:pPr indent="0" marL="0">
              <a:buNone/>
            </a:pPr>
            <a:r>
              <a:rPr lang="en-US" sz="1800" b="1" dirty="0">
                <a:solidFill>
                  <a:schemeClr val="accent2"/>
                </a:solidFill>
              </a:rPr>
              <a:t>Decides who is allowed to do what.</a:t>
            </a:r>
            <a:endParaRPr lang="en-US" sz="1800" dirty="0"/>
          </a:p>
        </p:txBody>
      </p:sp>
      <p:sp>
        <p:nvSpPr>
          <p:cNvPr id="8" name="Text 5"/>
          <p:cNvSpPr txBox="1"/>
          <p:nvPr/>
        </p:nvSpPr>
        <p:spPr>
          <a:xfrm>
            <a:off x="868680" y="3063240"/>
            <a:ext cx="4800600" cy="1188720"/>
          </a:xfrm>
          <a:prstGeom prst="rect">
            <a:avLst/>
          </a:prstGeom>
          <a:noFill/>
          <a:ln/>
        </p:spPr>
        <p:txBody>
          <a:bodyPr wrap="square" lIns="0" tIns="0" rIns="0" bIns="0" rtlCol="0" anchor="t"/>
          <a:lstStyle/>
          <a:p>
            <a:pPr indent="0" marL="0">
              <a:buNone/>
            </a:pPr>
            <a:r>
              <a:rPr lang="en-US" sz="1800" dirty="0">
                <a:solidFill>
                  <a:schemeClr val="tx2"/>
                </a:solidFill>
              </a:rPr>
              <a:t>We give Lambda a permission that says: you may use the Nova AI. Nothing else.</a:t>
            </a:r>
            <a:endParaRPr lang="en-US" sz="1800" dirty="0"/>
          </a:p>
        </p:txBody>
      </p:sp>
      <p:sp>
        <p:nvSpPr>
          <p:cNvPr id="9" name="Text 6"/>
          <p:cNvSpPr txBox="1"/>
          <p:nvPr/>
        </p:nvSpPr>
        <p:spPr>
          <a:xfrm>
            <a:off x="868680" y="4480560"/>
            <a:ext cx="4800600" cy="1097280"/>
          </a:xfrm>
          <a:prstGeom prst="rect">
            <a:avLst/>
          </a:prstGeom>
          <a:noFill/>
          <a:ln/>
        </p:spPr>
        <p:txBody>
          <a:bodyPr wrap="square" lIns="0" tIns="0" rIns="0" bIns="0" rtlCol="0" anchor="t"/>
          <a:lstStyle/>
          <a:p>
            <a:pPr indent="0" marL="0">
              <a:buNone/>
            </a:pPr>
            <a:r>
              <a:rPr lang="en-US" sz="1800" b="1" dirty="0">
                <a:solidFill>
                  <a:schemeClr val="tx1"/>
                </a:solidFill>
              </a:rPr>
              <a:t>Think of it like: </a:t>
            </a:r>
            <a:pPr indent="0" marL="0">
              <a:buNone/>
            </a:pPr>
            <a:r>
              <a:rPr lang="en-US" sz="1800" i="1" dirty="0">
                <a:solidFill>
                  <a:schemeClr val="tx1"/>
                </a:solidFill>
              </a:rPr>
              <a:t>A key card that only opens certain doors.</a:t>
            </a:r>
            <a:endParaRPr lang="en-US" sz="1800" dirty="0"/>
          </a:p>
        </p:txBody>
      </p:sp>
      <p:sp>
        <p:nvSpPr>
          <p:cNvPr id="10" name="helper 2 card"/>
          <p:cNvSpPr/>
          <p:nvPr/>
        </p:nvSpPr>
        <p:spPr>
          <a:xfrm>
            <a:off x="6172200" y="1463040"/>
            <a:ext cx="5440680" cy="4480560"/>
          </a:xfrm>
          <a:prstGeom prst="roundRect">
            <a:avLst>
              <a:gd name="adj" fmla="val 3061"/>
            </a:avLst>
          </a:prstGeom>
          <a:solidFill>
            <a:schemeClr val="bg2"/>
          </a:solidFill>
          <a:ln/>
        </p:spPr>
      </p:sp>
      <p:sp>
        <p:nvSpPr>
          <p:cNvPr id="11" name="helper 2 circle"/>
          <p:cNvSpPr/>
          <p:nvPr/>
        </p:nvSpPr>
        <p:spPr>
          <a:xfrm>
            <a:off x="6492240" y="1783080"/>
            <a:ext cx="914400" cy="914400"/>
          </a:xfrm>
          <a:prstGeom prst="ellipse">
            <a:avLst/>
          </a:prstGeom>
          <a:solidFill>
            <a:schemeClr val="accent1"/>
          </a:solidFill>
          <a:ln/>
        </p:spPr>
      </p:sp>
      <p:pic>
        <p:nvPicPr>
          <p:cNvPr id="12" name="helper 2 icon" descr="helper 2">    </p:cNvPr>
          <p:cNvPicPr>
            <a:picLocks noChangeAspect="1"/>
          </p:cNvPicPr>
          <p:nvPr/>
        </p:nvPicPr>
        <p:blipFill>
          <a:blip r:embed="rId2"/>
          <a:stretch>
            <a:fillRect/>
          </a:stretch>
        </p:blipFill>
        <p:spPr>
          <a:xfrm>
            <a:off x="6720840" y="2011680"/>
            <a:ext cx="457200" cy="457200"/>
          </a:xfrm>
          <a:prstGeom prst="rect">
            <a:avLst/>
          </a:prstGeom>
        </p:spPr>
      </p:pic>
      <p:sp>
        <p:nvSpPr>
          <p:cNvPr id="13" name="Text 9"/>
          <p:cNvSpPr txBox="1"/>
          <p:nvPr/>
        </p:nvSpPr>
        <p:spPr>
          <a:xfrm>
            <a:off x="7635240" y="1783080"/>
            <a:ext cx="3749040" cy="457200"/>
          </a:xfrm>
          <a:prstGeom prst="rect">
            <a:avLst/>
          </a:prstGeom>
          <a:noFill/>
          <a:ln/>
        </p:spPr>
        <p:txBody>
          <a:bodyPr wrap="square" lIns="0" tIns="0" rIns="0" bIns="0" rtlCol="0" anchor="t"/>
          <a:lstStyle/>
          <a:p>
            <a:pPr indent="0" marL="0">
              <a:buNone/>
            </a:pPr>
            <a:r>
              <a:rPr lang="en-US" sz="2400" b="1" dirty="0">
                <a:solidFill>
                  <a:schemeClr val="tx1"/>
                </a:solidFill>
              </a:rPr>
              <a:t>Amazon CloudWatch</a:t>
            </a:r>
            <a:endParaRPr lang="en-US" sz="2400" dirty="0"/>
          </a:p>
        </p:txBody>
      </p:sp>
      <p:sp>
        <p:nvSpPr>
          <p:cNvPr id="14" name="Text 10"/>
          <p:cNvSpPr txBox="1"/>
          <p:nvPr/>
        </p:nvSpPr>
        <p:spPr>
          <a:xfrm>
            <a:off x="7635240" y="2286000"/>
            <a:ext cx="3749040" cy="457200"/>
          </a:xfrm>
          <a:prstGeom prst="rect">
            <a:avLst/>
          </a:prstGeom>
          <a:noFill/>
          <a:ln/>
        </p:spPr>
        <p:txBody>
          <a:bodyPr wrap="square" lIns="0" tIns="0" rIns="0" bIns="0" rtlCol="0" anchor="t"/>
          <a:lstStyle/>
          <a:p>
            <a:pPr indent="0" marL="0">
              <a:buNone/>
            </a:pPr>
            <a:r>
              <a:rPr lang="en-US" sz="1800" b="1" dirty="0">
                <a:solidFill>
                  <a:schemeClr val="accent2"/>
                </a:solidFill>
              </a:rPr>
              <a:t>Keeps a record of what our code did.</a:t>
            </a:r>
            <a:endParaRPr lang="en-US" sz="1800" dirty="0"/>
          </a:p>
        </p:txBody>
      </p:sp>
      <p:sp>
        <p:nvSpPr>
          <p:cNvPr id="15" name="Text 11"/>
          <p:cNvSpPr txBox="1"/>
          <p:nvPr/>
        </p:nvSpPr>
        <p:spPr>
          <a:xfrm>
            <a:off x="6492240" y="3063240"/>
            <a:ext cx="4800600" cy="1188720"/>
          </a:xfrm>
          <a:prstGeom prst="rect">
            <a:avLst/>
          </a:prstGeom>
          <a:noFill/>
          <a:ln/>
        </p:spPr>
        <p:txBody>
          <a:bodyPr wrap="square" lIns="0" tIns="0" rIns="0" bIns="0" rtlCol="0" anchor="t"/>
          <a:lstStyle/>
          <a:p>
            <a:pPr indent="0" marL="0">
              <a:buNone/>
            </a:pPr>
            <a:r>
              <a:rPr lang="en-US" sz="1800" dirty="0">
                <a:solidFill>
                  <a:schemeClr val="tx2"/>
                </a:solidFill>
              </a:rPr>
              <a:t>If something breaks, we read these records, called logs, to find out why.</a:t>
            </a:r>
            <a:endParaRPr lang="en-US" sz="1800" dirty="0"/>
          </a:p>
        </p:txBody>
      </p:sp>
      <p:sp>
        <p:nvSpPr>
          <p:cNvPr id="16" name="Text 12"/>
          <p:cNvSpPr txBox="1"/>
          <p:nvPr/>
        </p:nvSpPr>
        <p:spPr>
          <a:xfrm>
            <a:off x="6492240" y="4480560"/>
            <a:ext cx="4800600" cy="1097280"/>
          </a:xfrm>
          <a:prstGeom prst="rect">
            <a:avLst/>
          </a:prstGeom>
          <a:noFill/>
          <a:ln/>
        </p:spPr>
        <p:txBody>
          <a:bodyPr wrap="square" lIns="0" tIns="0" rIns="0" bIns="0" rtlCol="0" anchor="t"/>
          <a:lstStyle/>
          <a:p>
            <a:pPr indent="0" marL="0">
              <a:buNone/>
            </a:pPr>
            <a:r>
              <a:rPr lang="en-US" sz="1800" b="1" dirty="0">
                <a:solidFill>
                  <a:schemeClr val="tx1"/>
                </a:solidFill>
              </a:rPr>
              <a:t>Think of it like: </a:t>
            </a:r>
            <a:pPr indent="0" marL="0">
              <a:buNone/>
            </a:pPr>
            <a:r>
              <a:rPr lang="en-US" sz="1800" i="1" dirty="0">
                <a:solidFill>
                  <a:schemeClr val="tx1"/>
                </a:solidFill>
              </a:rPr>
              <a:t>A notebook that writes down everything that happens.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Putting it together: it's like a restaurant</a:t>
            </a:r>
            <a:endParaRPr lang="en-US" sz="3600" dirty="0"/>
          </a:p>
        </p:txBody>
      </p:sp>
      <p:sp>
        <p:nvSpPr>
          <p:cNvPr id="3" name="flow 1 circle"/>
          <p:cNvSpPr/>
          <p:nvPr/>
        </p:nvSpPr>
        <p:spPr>
          <a:xfrm>
            <a:off x="1051560" y="1554480"/>
            <a:ext cx="1005840" cy="1005840"/>
          </a:xfrm>
          <a:prstGeom prst="ellipse">
            <a:avLst/>
          </a:prstGeom>
          <a:solidFill>
            <a:schemeClr val="accent1"/>
          </a:solidFill>
          <a:ln/>
        </p:spPr>
      </p:sp>
      <p:pic>
        <p:nvPicPr>
          <p:cNvPr id="4" name="flow 1 icon" descr="flow 1">    </p:cNvPr>
          <p:cNvPicPr>
            <a:picLocks noChangeAspect="1"/>
          </p:cNvPicPr>
          <p:nvPr/>
        </p:nvPicPr>
        <p:blipFill>
          <a:blip r:embed="rId1"/>
          <a:stretch>
            <a:fillRect/>
          </a:stretch>
        </p:blipFill>
        <p:spPr>
          <a:xfrm>
            <a:off x="1303020" y="1805940"/>
            <a:ext cx="502920" cy="502920"/>
          </a:xfrm>
          <a:prstGeom prst="rect">
            <a:avLst/>
          </a:prstGeom>
        </p:spPr>
      </p:pic>
      <p:pic>
        <p:nvPicPr>
          <p:cNvPr id="5" name="flow arrow 1" descr="then">    </p:cNvPr>
          <p:cNvPicPr>
            <a:picLocks noChangeAspect="1"/>
          </p:cNvPicPr>
          <p:nvPr/>
        </p:nvPicPr>
        <p:blipFill>
          <a:blip r:embed="rId2"/>
          <a:stretch>
            <a:fillRect/>
          </a:stretch>
        </p:blipFill>
        <p:spPr>
          <a:xfrm>
            <a:off x="2423160" y="1874520"/>
            <a:ext cx="365760" cy="365760"/>
          </a:xfrm>
          <a:prstGeom prst="rect">
            <a:avLst/>
          </a:prstGeom>
        </p:spPr>
      </p:pic>
      <p:sp>
        <p:nvSpPr>
          <p:cNvPr id="6" name="Text 2"/>
          <p:cNvSpPr txBox="1"/>
          <p:nvPr/>
        </p:nvSpPr>
        <p:spPr>
          <a:xfrm>
            <a:off x="548640" y="2743200"/>
            <a:ext cx="2011680" cy="457200"/>
          </a:xfrm>
          <a:prstGeom prst="rect">
            <a:avLst/>
          </a:prstGeom>
          <a:noFill/>
          <a:ln/>
        </p:spPr>
        <p:txBody>
          <a:bodyPr wrap="square" lIns="0" tIns="0" rIns="0" bIns="0" rtlCol="0" anchor="t"/>
          <a:lstStyle/>
          <a:p>
            <a:pPr algn="ctr" indent="0" marL="0">
              <a:buNone/>
            </a:pPr>
            <a:r>
              <a:rPr lang="en-US" sz="2000" b="1" dirty="0">
                <a:solidFill>
                  <a:schemeClr val="tx1"/>
                </a:solidFill>
              </a:rPr>
              <a:t>You</a:t>
            </a:r>
            <a:endParaRPr lang="en-US" sz="2000" dirty="0"/>
          </a:p>
        </p:txBody>
      </p:sp>
      <p:sp>
        <p:nvSpPr>
          <p:cNvPr id="7" name="Text 3"/>
          <p:cNvSpPr txBox="1"/>
          <p:nvPr/>
        </p:nvSpPr>
        <p:spPr>
          <a:xfrm>
            <a:off x="548640" y="3200400"/>
            <a:ext cx="2011680" cy="411480"/>
          </a:xfrm>
          <a:prstGeom prst="rect">
            <a:avLst/>
          </a:prstGeom>
          <a:noFill/>
          <a:ln/>
        </p:spPr>
        <p:txBody>
          <a:bodyPr wrap="square" lIns="0" tIns="0" rIns="0" bIns="0" rtlCol="0" anchor="t"/>
          <a:lstStyle/>
          <a:p>
            <a:pPr algn="ctr" indent="0" marL="0">
              <a:buNone/>
            </a:pPr>
            <a:r>
              <a:rPr lang="en-US" sz="1600" b="1" dirty="0">
                <a:solidFill>
                  <a:schemeClr val="accent3"/>
                </a:solidFill>
              </a:rPr>
              <a:t>Order</a:t>
            </a:r>
            <a:endParaRPr lang="en-US" sz="1600" dirty="0"/>
          </a:p>
        </p:txBody>
      </p:sp>
      <p:sp>
        <p:nvSpPr>
          <p:cNvPr id="8" name="Text 4"/>
          <p:cNvSpPr txBox="1"/>
          <p:nvPr/>
        </p:nvSpPr>
        <p:spPr>
          <a:xfrm>
            <a:off x="548640" y="3657600"/>
            <a:ext cx="2011680" cy="1097280"/>
          </a:xfrm>
          <a:prstGeom prst="rect">
            <a:avLst/>
          </a:prstGeom>
          <a:noFill/>
          <a:ln/>
        </p:spPr>
        <p:txBody>
          <a:bodyPr wrap="square" lIns="0" tIns="0" rIns="0" bIns="0" rtlCol="0" anchor="t"/>
          <a:lstStyle/>
          <a:p>
            <a:pPr algn="ctr" indent="0" marL="0">
              <a:buNone/>
            </a:pPr>
            <a:r>
              <a:rPr lang="en-US" sz="1500" dirty="0">
                <a:solidFill>
                  <a:schemeClr val="tx2"/>
                </a:solidFill>
              </a:rPr>
              <a:t>You fill out the form and click Generate.</a:t>
            </a:r>
            <a:endParaRPr lang="en-US" sz="1500" dirty="0"/>
          </a:p>
        </p:txBody>
      </p:sp>
      <p:sp>
        <p:nvSpPr>
          <p:cNvPr id="9" name="flow 2 circle"/>
          <p:cNvSpPr/>
          <p:nvPr/>
        </p:nvSpPr>
        <p:spPr>
          <a:xfrm>
            <a:off x="3337560" y="1554480"/>
            <a:ext cx="1005840" cy="1005840"/>
          </a:xfrm>
          <a:prstGeom prst="ellipse">
            <a:avLst/>
          </a:prstGeom>
          <a:solidFill>
            <a:schemeClr val="accent1"/>
          </a:solidFill>
          <a:ln/>
        </p:spPr>
      </p:sp>
      <p:pic>
        <p:nvPicPr>
          <p:cNvPr id="10" name="flow 2 icon" descr="flow 2">    </p:cNvPr>
          <p:cNvPicPr>
            <a:picLocks noChangeAspect="1"/>
          </p:cNvPicPr>
          <p:nvPr/>
        </p:nvPicPr>
        <p:blipFill>
          <a:blip r:embed="rId3"/>
          <a:stretch>
            <a:fillRect/>
          </a:stretch>
        </p:blipFill>
        <p:spPr>
          <a:xfrm>
            <a:off x="3589020" y="1805940"/>
            <a:ext cx="502920" cy="502920"/>
          </a:xfrm>
          <a:prstGeom prst="rect">
            <a:avLst/>
          </a:prstGeom>
        </p:spPr>
      </p:pic>
      <p:pic>
        <p:nvPicPr>
          <p:cNvPr id="11" name="flow arrow 2" descr="then">    </p:cNvPr>
          <p:cNvPicPr>
            <a:picLocks noChangeAspect="1"/>
          </p:cNvPicPr>
          <p:nvPr/>
        </p:nvPicPr>
        <p:blipFill>
          <a:blip r:embed="rId4"/>
          <a:stretch>
            <a:fillRect/>
          </a:stretch>
        </p:blipFill>
        <p:spPr>
          <a:xfrm>
            <a:off x="4709160" y="1874520"/>
            <a:ext cx="365760" cy="365760"/>
          </a:xfrm>
          <a:prstGeom prst="rect">
            <a:avLst/>
          </a:prstGeom>
        </p:spPr>
      </p:pic>
      <p:sp>
        <p:nvSpPr>
          <p:cNvPr id="12" name="Text 6"/>
          <p:cNvSpPr txBox="1"/>
          <p:nvPr/>
        </p:nvSpPr>
        <p:spPr>
          <a:xfrm>
            <a:off x="2834640" y="2743200"/>
            <a:ext cx="2011680" cy="457200"/>
          </a:xfrm>
          <a:prstGeom prst="rect">
            <a:avLst/>
          </a:prstGeom>
          <a:noFill/>
          <a:ln/>
        </p:spPr>
        <p:txBody>
          <a:bodyPr wrap="square" lIns="0" tIns="0" rIns="0" bIns="0" rtlCol="0" anchor="t"/>
          <a:lstStyle/>
          <a:p>
            <a:pPr algn="ctr" indent="0" marL="0">
              <a:buNone/>
            </a:pPr>
            <a:r>
              <a:rPr lang="en-US" sz="2000" b="1" dirty="0">
                <a:solidFill>
                  <a:schemeClr val="tx1"/>
                </a:solidFill>
              </a:rPr>
              <a:t>Amplify</a:t>
            </a:r>
            <a:endParaRPr lang="en-US" sz="2000" dirty="0"/>
          </a:p>
        </p:txBody>
      </p:sp>
      <p:sp>
        <p:nvSpPr>
          <p:cNvPr id="13" name="Text 7"/>
          <p:cNvSpPr txBox="1"/>
          <p:nvPr/>
        </p:nvSpPr>
        <p:spPr>
          <a:xfrm>
            <a:off x="2834640" y="3200400"/>
            <a:ext cx="2011680" cy="411480"/>
          </a:xfrm>
          <a:prstGeom prst="rect">
            <a:avLst/>
          </a:prstGeom>
          <a:noFill/>
          <a:ln/>
        </p:spPr>
        <p:txBody>
          <a:bodyPr wrap="square" lIns="0" tIns="0" rIns="0" bIns="0" rtlCol="0" anchor="t"/>
          <a:lstStyle/>
          <a:p>
            <a:pPr algn="ctr" indent="0" marL="0">
              <a:buNone/>
            </a:pPr>
            <a:r>
              <a:rPr lang="en-US" sz="1600" b="1" dirty="0">
                <a:solidFill>
                  <a:schemeClr val="accent3"/>
                </a:solidFill>
              </a:rPr>
              <a:t>The dining room</a:t>
            </a:r>
            <a:endParaRPr lang="en-US" sz="1600" dirty="0"/>
          </a:p>
        </p:txBody>
      </p:sp>
      <p:sp>
        <p:nvSpPr>
          <p:cNvPr id="14" name="Text 8"/>
          <p:cNvSpPr txBox="1"/>
          <p:nvPr/>
        </p:nvSpPr>
        <p:spPr>
          <a:xfrm>
            <a:off x="2834640" y="3657600"/>
            <a:ext cx="2011680" cy="1097280"/>
          </a:xfrm>
          <a:prstGeom prst="rect">
            <a:avLst/>
          </a:prstGeom>
          <a:noFill/>
          <a:ln/>
        </p:spPr>
        <p:txBody>
          <a:bodyPr wrap="square" lIns="0" tIns="0" rIns="0" bIns="0" rtlCol="0" anchor="t"/>
          <a:lstStyle/>
          <a:p>
            <a:pPr algn="ctr" indent="0" marL="0">
              <a:buNone/>
            </a:pPr>
            <a:r>
              <a:rPr lang="en-US" sz="1500" dirty="0">
                <a:solidFill>
                  <a:schemeClr val="tx2"/>
                </a:solidFill>
              </a:rPr>
              <a:t>The website where you place your order.</a:t>
            </a:r>
            <a:endParaRPr lang="en-US" sz="1500" dirty="0"/>
          </a:p>
        </p:txBody>
      </p:sp>
      <p:sp>
        <p:nvSpPr>
          <p:cNvPr id="15" name="flow 3 circle"/>
          <p:cNvSpPr/>
          <p:nvPr/>
        </p:nvSpPr>
        <p:spPr>
          <a:xfrm>
            <a:off x="5623560" y="1554480"/>
            <a:ext cx="1005840" cy="1005840"/>
          </a:xfrm>
          <a:prstGeom prst="ellipse">
            <a:avLst/>
          </a:prstGeom>
          <a:solidFill>
            <a:schemeClr val="accent1"/>
          </a:solidFill>
          <a:ln/>
        </p:spPr>
      </p:sp>
      <p:pic>
        <p:nvPicPr>
          <p:cNvPr id="16" name="flow 3 icon" descr="flow 3">    </p:cNvPr>
          <p:cNvPicPr>
            <a:picLocks noChangeAspect="1"/>
          </p:cNvPicPr>
          <p:nvPr/>
        </p:nvPicPr>
        <p:blipFill>
          <a:blip r:embed="rId5"/>
          <a:stretch>
            <a:fillRect/>
          </a:stretch>
        </p:blipFill>
        <p:spPr>
          <a:xfrm>
            <a:off x="5875020" y="1805940"/>
            <a:ext cx="502920" cy="502920"/>
          </a:xfrm>
          <a:prstGeom prst="rect">
            <a:avLst/>
          </a:prstGeom>
        </p:spPr>
      </p:pic>
      <p:pic>
        <p:nvPicPr>
          <p:cNvPr id="17" name="flow arrow 3" descr="then">    </p:cNvPr>
          <p:cNvPicPr>
            <a:picLocks noChangeAspect="1"/>
          </p:cNvPicPr>
          <p:nvPr/>
        </p:nvPicPr>
        <p:blipFill>
          <a:blip r:embed="rId6"/>
          <a:stretch>
            <a:fillRect/>
          </a:stretch>
        </p:blipFill>
        <p:spPr>
          <a:xfrm>
            <a:off x="6995160" y="1874520"/>
            <a:ext cx="365760" cy="365760"/>
          </a:xfrm>
          <a:prstGeom prst="rect">
            <a:avLst/>
          </a:prstGeom>
        </p:spPr>
      </p:pic>
      <p:sp>
        <p:nvSpPr>
          <p:cNvPr id="18" name="Text 10"/>
          <p:cNvSpPr txBox="1"/>
          <p:nvPr/>
        </p:nvSpPr>
        <p:spPr>
          <a:xfrm>
            <a:off x="5120640" y="2743200"/>
            <a:ext cx="2011680" cy="457200"/>
          </a:xfrm>
          <a:prstGeom prst="rect">
            <a:avLst/>
          </a:prstGeom>
          <a:noFill/>
          <a:ln/>
        </p:spPr>
        <p:txBody>
          <a:bodyPr wrap="square" lIns="0" tIns="0" rIns="0" bIns="0" rtlCol="0" anchor="t"/>
          <a:lstStyle/>
          <a:p>
            <a:pPr algn="ctr" indent="0" marL="0">
              <a:buNone/>
            </a:pPr>
            <a:r>
              <a:rPr lang="en-US" sz="2000" b="1" dirty="0">
                <a:solidFill>
                  <a:schemeClr val="tx1"/>
                </a:solidFill>
              </a:rPr>
              <a:t>API Gateway</a:t>
            </a:r>
            <a:endParaRPr lang="en-US" sz="2000" dirty="0"/>
          </a:p>
        </p:txBody>
      </p:sp>
      <p:sp>
        <p:nvSpPr>
          <p:cNvPr id="19" name="Text 11"/>
          <p:cNvSpPr txBox="1"/>
          <p:nvPr/>
        </p:nvSpPr>
        <p:spPr>
          <a:xfrm>
            <a:off x="5120640" y="3200400"/>
            <a:ext cx="2011680" cy="411480"/>
          </a:xfrm>
          <a:prstGeom prst="rect">
            <a:avLst/>
          </a:prstGeom>
          <a:noFill/>
          <a:ln/>
        </p:spPr>
        <p:txBody>
          <a:bodyPr wrap="square" lIns="0" tIns="0" rIns="0" bIns="0" rtlCol="0" anchor="t"/>
          <a:lstStyle/>
          <a:p>
            <a:pPr algn="ctr" indent="0" marL="0">
              <a:buNone/>
            </a:pPr>
            <a:r>
              <a:rPr lang="en-US" sz="1600" b="1" dirty="0">
                <a:solidFill>
                  <a:schemeClr val="accent3"/>
                </a:solidFill>
              </a:rPr>
              <a:t>The server</a:t>
            </a:r>
            <a:endParaRPr lang="en-US" sz="1600" dirty="0"/>
          </a:p>
        </p:txBody>
      </p:sp>
      <p:sp>
        <p:nvSpPr>
          <p:cNvPr id="20" name="Text 12"/>
          <p:cNvSpPr txBox="1"/>
          <p:nvPr/>
        </p:nvSpPr>
        <p:spPr>
          <a:xfrm>
            <a:off x="5120640" y="3657600"/>
            <a:ext cx="2011680" cy="1097280"/>
          </a:xfrm>
          <a:prstGeom prst="rect">
            <a:avLst/>
          </a:prstGeom>
          <a:noFill/>
          <a:ln/>
        </p:spPr>
        <p:txBody>
          <a:bodyPr wrap="square" lIns="0" tIns="0" rIns="0" bIns="0" rtlCol="0" anchor="t"/>
          <a:lstStyle/>
          <a:p>
            <a:pPr algn="ctr" indent="0" marL="0">
              <a:buNone/>
            </a:pPr>
            <a:r>
              <a:rPr lang="en-US" sz="1500" dirty="0">
                <a:solidFill>
                  <a:schemeClr val="tx2"/>
                </a:solidFill>
              </a:rPr>
              <a:t>Takes your order to the kitchen.</a:t>
            </a:r>
            <a:endParaRPr lang="en-US" sz="1500" dirty="0"/>
          </a:p>
        </p:txBody>
      </p:sp>
      <p:sp>
        <p:nvSpPr>
          <p:cNvPr id="21" name="flow 4 circle"/>
          <p:cNvSpPr/>
          <p:nvPr/>
        </p:nvSpPr>
        <p:spPr>
          <a:xfrm>
            <a:off x="7909560" y="1554480"/>
            <a:ext cx="1005840" cy="1005840"/>
          </a:xfrm>
          <a:prstGeom prst="ellipse">
            <a:avLst/>
          </a:prstGeom>
          <a:solidFill>
            <a:schemeClr val="accent1"/>
          </a:solidFill>
          <a:ln/>
        </p:spPr>
      </p:sp>
      <p:pic>
        <p:nvPicPr>
          <p:cNvPr id="22" name="flow 4 icon" descr="flow 4">    </p:cNvPr>
          <p:cNvPicPr>
            <a:picLocks noChangeAspect="1"/>
          </p:cNvPicPr>
          <p:nvPr/>
        </p:nvPicPr>
        <p:blipFill>
          <a:blip r:embed="rId7"/>
          <a:stretch>
            <a:fillRect/>
          </a:stretch>
        </p:blipFill>
        <p:spPr>
          <a:xfrm>
            <a:off x="8161020" y="1805940"/>
            <a:ext cx="502920" cy="502920"/>
          </a:xfrm>
          <a:prstGeom prst="rect">
            <a:avLst/>
          </a:prstGeom>
        </p:spPr>
      </p:pic>
      <p:pic>
        <p:nvPicPr>
          <p:cNvPr id="23" name="flow arrow 4" descr="then">    </p:cNvPr>
          <p:cNvPicPr>
            <a:picLocks noChangeAspect="1"/>
          </p:cNvPicPr>
          <p:nvPr/>
        </p:nvPicPr>
        <p:blipFill>
          <a:blip r:embed="rId8"/>
          <a:stretch>
            <a:fillRect/>
          </a:stretch>
        </p:blipFill>
        <p:spPr>
          <a:xfrm>
            <a:off x="9281160" y="1874520"/>
            <a:ext cx="365760" cy="365760"/>
          </a:xfrm>
          <a:prstGeom prst="rect">
            <a:avLst/>
          </a:prstGeom>
        </p:spPr>
      </p:pic>
      <p:sp>
        <p:nvSpPr>
          <p:cNvPr id="24" name="Text 14"/>
          <p:cNvSpPr txBox="1"/>
          <p:nvPr/>
        </p:nvSpPr>
        <p:spPr>
          <a:xfrm>
            <a:off x="7406640" y="2743200"/>
            <a:ext cx="2011680" cy="457200"/>
          </a:xfrm>
          <a:prstGeom prst="rect">
            <a:avLst/>
          </a:prstGeom>
          <a:noFill/>
          <a:ln/>
        </p:spPr>
        <p:txBody>
          <a:bodyPr wrap="square" lIns="0" tIns="0" rIns="0" bIns="0" rtlCol="0" anchor="t"/>
          <a:lstStyle/>
          <a:p>
            <a:pPr algn="ctr" indent="0" marL="0">
              <a:buNone/>
            </a:pPr>
            <a:r>
              <a:rPr lang="en-US" sz="2000" b="1" dirty="0">
                <a:solidFill>
                  <a:schemeClr val="tx1"/>
                </a:solidFill>
              </a:rPr>
              <a:t>Lambda</a:t>
            </a:r>
            <a:endParaRPr lang="en-US" sz="2000" dirty="0"/>
          </a:p>
        </p:txBody>
      </p:sp>
      <p:sp>
        <p:nvSpPr>
          <p:cNvPr id="25" name="Text 15"/>
          <p:cNvSpPr txBox="1"/>
          <p:nvPr/>
        </p:nvSpPr>
        <p:spPr>
          <a:xfrm>
            <a:off x="7406640" y="3200400"/>
            <a:ext cx="2011680" cy="411480"/>
          </a:xfrm>
          <a:prstGeom prst="rect">
            <a:avLst/>
          </a:prstGeom>
          <a:noFill/>
          <a:ln/>
        </p:spPr>
        <p:txBody>
          <a:bodyPr wrap="square" lIns="0" tIns="0" rIns="0" bIns="0" rtlCol="0" anchor="t"/>
          <a:lstStyle/>
          <a:p>
            <a:pPr algn="ctr" indent="0" marL="0">
              <a:buNone/>
            </a:pPr>
            <a:r>
              <a:rPr lang="en-US" sz="1600" b="1" dirty="0">
                <a:solidFill>
                  <a:schemeClr val="accent3"/>
                </a:solidFill>
              </a:rPr>
              <a:t>The cook</a:t>
            </a:r>
            <a:endParaRPr lang="en-US" sz="1600" dirty="0"/>
          </a:p>
        </p:txBody>
      </p:sp>
      <p:sp>
        <p:nvSpPr>
          <p:cNvPr id="26" name="Text 16"/>
          <p:cNvSpPr txBox="1"/>
          <p:nvPr/>
        </p:nvSpPr>
        <p:spPr>
          <a:xfrm>
            <a:off x="7406640" y="3657600"/>
            <a:ext cx="2011680" cy="1097280"/>
          </a:xfrm>
          <a:prstGeom prst="rect">
            <a:avLst/>
          </a:prstGeom>
          <a:noFill/>
          <a:ln/>
        </p:spPr>
        <p:txBody>
          <a:bodyPr wrap="square" lIns="0" tIns="0" rIns="0" bIns="0" rtlCol="0" anchor="t"/>
          <a:lstStyle/>
          <a:p>
            <a:pPr algn="ctr" indent="0" marL="0">
              <a:buNone/>
            </a:pPr>
            <a:r>
              <a:rPr lang="en-US" sz="1500" dirty="0">
                <a:solidFill>
                  <a:schemeClr val="tx2"/>
                </a:solidFill>
              </a:rPr>
              <a:t>Gets the order ready for the chef.</a:t>
            </a:r>
            <a:endParaRPr lang="en-US" sz="1500" dirty="0"/>
          </a:p>
        </p:txBody>
      </p:sp>
      <p:sp>
        <p:nvSpPr>
          <p:cNvPr id="27" name="flow 5 circle"/>
          <p:cNvSpPr/>
          <p:nvPr/>
        </p:nvSpPr>
        <p:spPr>
          <a:xfrm>
            <a:off x="10195560" y="1554480"/>
            <a:ext cx="1005840" cy="1005840"/>
          </a:xfrm>
          <a:prstGeom prst="ellipse">
            <a:avLst/>
          </a:prstGeom>
          <a:solidFill>
            <a:schemeClr val="accent1"/>
          </a:solidFill>
          <a:ln/>
        </p:spPr>
      </p:sp>
      <p:pic>
        <p:nvPicPr>
          <p:cNvPr id="28" name="flow 5 icon" descr="flow 5">    </p:cNvPr>
          <p:cNvPicPr>
            <a:picLocks noChangeAspect="1"/>
          </p:cNvPicPr>
          <p:nvPr/>
        </p:nvPicPr>
        <p:blipFill>
          <a:blip r:embed="rId9"/>
          <a:stretch>
            <a:fillRect/>
          </a:stretch>
        </p:blipFill>
        <p:spPr>
          <a:xfrm>
            <a:off x="10447020" y="1805940"/>
            <a:ext cx="502920" cy="502920"/>
          </a:xfrm>
          <a:prstGeom prst="rect">
            <a:avLst/>
          </a:prstGeom>
        </p:spPr>
      </p:pic>
      <p:sp>
        <p:nvSpPr>
          <p:cNvPr id="29" name="Text 18"/>
          <p:cNvSpPr txBox="1"/>
          <p:nvPr/>
        </p:nvSpPr>
        <p:spPr>
          <a:xfrm>
            <a:off x="9692640" y="2743200"/>
            <a:ext cx="2011680" cy="457200"/>
          </a:xfrm>
          <a:prstGeom prst="rect">
            <a:avLst/>
          </a:prstGeom>
          <a:noFill/>
          <a:ln/>
        </p:spPr>
        <p:txBody>
          <a:bodyPr wrap="square" lIns="0" tIns="0" rIns="0" bIns="0" rtlCol="0" anchor="t"/>
          <a:lstStyle/>
          <a:p>
            <a:pPr algn="ctr" indent="0" marL="0">
              <a:buNone/>
            </a:pPr>
            <a:r>
              <a:rPr lang="en-US" sz="2000" b="1" dirty="0">
                <a:solidFill>
                  <a:schemeClr val="tx1"/>
                </a:solidFill>
              </a:rPr>
              <a:t>Bedrock</a:t>
            </a:r>
            <a:endParaRPr lang="en-US" sz="2000" dirty="0"/>
          </a:p>
        </p:txBody>
      </p:sp>
      <p:sp>
        <p:nvSpPr>
          <p:cNvPr id="30" name="Text 19"/>
          <p:cNvSpPr txBox="1"/>
          <p:nvPr/>
        </p:nvSpPr>
        <p:spPr>
          <a:xfrm>
            <a:off x="9692640" y="3200400"/>
            <a:ext cx="2011680" cy="411480"/>
          </a:xfrm>
          <a:prstGeom prst="rect">
            <a:avLst/>
          </a:prstGeom>
          <a:noFill/>
          <a:ln/>
        </p:spPr>
        <p:txBody>
          <a:bodyPr wrap="square" lIns="0" tIns="0" rIns="0" bIns="0" rtlCol="0" anchor="t"/>
          <a:lstStyle/>
          <a:p>
            <a:pPr algn="ctr" indent="0" marL="0">
              <a:buNone/>
            </a:pPr>
            <a:r>
              <a:rPr lang="en-US" sz="1600" b="1" dirty="0">
                <a:solidFill>
                  <a:schemeClr val="accent3"/>
                </a:solidFill>
              </a:rPr>
              <a:t>The chef</a:t>
            </a:r>
            <a:endParaRPr lang="en-US" sz="1600" dirty="0"/>
          </a:p>
        </p:txBody>
      </p:sp>
      <p:sp>
        <p:nvSpPr>
          <p:cNvPr id="31" name="Text 20"/>
          <p:cNvSpPr txBox="1"/>
          <p:nvPr/>
        </p:nvSpPr>
        <p:spPr>
          <a:xfrm>
            <a:off x="9692640" y="3657600"/>
            <a:ext cx="2011680" cy="1097280"/>
          </a:xfrm>
          <a:prstGeom prst="rect">
            <a:avLst/>
          </a:prstGeom>
          <a:noFill/>
          <a:ln/>
        </p:spPr>
        <p:txBody>
          <a:bodyPr wrap="square" lIns="0" tIns="0" rIns="0" bIns="0" rtlCol="0" anchor="t"/>
          <a:lstStyle/>
          <a:p>
            <a:pPr algn="ctr" indent="0" marL="0">
              <a:buNone/>
            </a:pPr>
            <a:r>
              <a:rPr lang="en-US" sz="1500" dirty="0">
                <a:solidFill>
                  <a:schemeClr val="tx2"/>
                </a:solidFill>
              </a:rPr>
              <a:t>The AI creates your plan.</a:t>
            </a:r>
            <a:endParaRPr lang="en-US" sz="1500" dirty="0"/>
          </a:p>
        </p:txBody>
      </p:sp>
      <p:sp>
        <p:nvSpPr>
          <p:cNvPr id="32" name="result card"/>
          <p:cNvSpPr/>
          <p:nvPr/>
        </p:nvSpPr>
        <p:spPr>
          <a:xfrm>
            <a:off x="548640" y="5074920"/>
            <a:ext cx="11064240" cy="868680"/>
          </a:xfrm>
          <a:prstGeom prst="roundRect">
            <a:avLst>
              <a:gd name="adj" fmla="val 15789"/>
            </a:avLst>
          </a:prstGeom>
          <a:solidFill>
            <a:schemeClr val="tx1"/>
          </a:solidFill>
          <a:ln/>
        </p:spPr>
      </p:sp>
      <p:sp>
        <p:nvSpPr>
          <p:cNvPr id="33" name="Text 22"/>
          <p:cNvSpPr txBox="1"/>
          <p:nvPr/>
        </p:nvSpPr>
        <p:spPr>
          <a:xfrm>
            <a:off x="868680" y="5074920"/>
            <a:ext cx="10424160" cy="868680"/>
          </a:xfrm>
          <a:prstGeom prst="rect">
            <a:avLst/>
          </a:prstGeom>
          <a:noFill/>
          <a:ln/>
        </p:spPr>
        <p:txBody>
          <a:bodyPr wrap="square" lIns="0" tIns="0" rIns="0" bIns="0" rtlCol="0" anchor="ctr"/>
          <a:lstStyle/>
          <a:p>
            <a:pPr indent="0" marL="0">
              <a:buNone/>
            </a:pPr>
            <a:r>
              <a:rPr lang="en-US" sz="1800" b="1" dirty="0">
                <a:solidFill>
                  <a:schemeClr val="bg1"/>
                </a:solidFill>
              </a:rPr>
              <a:t>Then your meal comes back the same way: your roadmap shows up on screen in about 5 seconds.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Our plan for the next 45 minutes</a:t>
            </a:r>
            <a:endParaRPr lang="en-US" sz="3600" dirty="0"/>
          </a:p>
        </p:txBody>
      </p:sp>
      <p:sp>
        <p:nvSpPr>
          <p:cNvPr id="3" name="step 1 card"/>
          <p:cNvSpPr/>
          <p:nvPr/>
        </p:nvSpPr>
        <p:spPr>
          <a:xfrm>
            <a:off x="548640" y="1463040"/>
            <a:ext cx="5440680" cy="960120"/>
          </a:xfrm>
          <a:prstGeom prst="roundRect">
            <a:avLst>
              <a:gd name="adj" fmla="val 14286"/>
            </a:avLst>
          </a:prstGeom>
          <a:solidFill>
            <a:schemeClr val="bg2"/>
          </a:solidFill>
          <a:ln/>
        </p:spPr>
      </p:sp>
      <p:sp>
        <p:nvSpPr>
          <p:cNvPr id="4" name="step 1 number"/>
          <p:cNvSpPr/>
          <p:nvPr/>
        </p:nvSpPr>
        <p:spPr>
          <a:xfrm>
            <a:off x="731520" y="1600200"/>
            <a:ext cx="685800" cy="685800"/>
          </a:xfrm>
          <a:prstGeom prst="ellipse">
            <a:avLst/>
          </a:prstGeom>
          <a:solidFill>
            <a:schemeClr val="accent1"/>
          </a:solidFill>
          <a:ln/>
        </p:spPr>
      </p:sp>
      <p:sp>
        <p:nvSpPr>
          <p:cNvPr id="5" name="Text 3"/>
          <p:cNvSpPr txBox="1"/>
          <p:nvPr/>
        </p:nvSpPr>
        <p:spPr>
          <a:xfrm>
            <a:off x="731520" y="1600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Text 4"/>
          <p:cNvSpPr txBox="1"/>
          <p:nvPr/>
        </p:nvSpPr>
        <p:spPr>
          <a:xfrm>
            <a:off x="1645920" y="1600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0-5 min</a:t>
            </a:r>
            <a:endParaRPr lang="en-US" sz="1600" dirty="0"/>
          </a:p>
        </p:txBody>
      </p:sp>
      <p:sp>
        <p:nvSpPr>
          <p:cNvPr id="7" name="Text 5"/>
          <p:cNvSpPr txBox="1"/>
          <p:nvPr/>
        </p:nvSpPr>
        <p:spPr>
          <a:xfrm>
            <a:off x="2788920" y="1600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Learn how cloud AI apps work</a:t>
            </a:r>
            <a:endParaRPr lang="en-US" sz="1800" dirty="0"/>
          </a:p>
        </p:txBody>
      </p:sp>
      <p:sp>
        <p:nvSpPr>
          <p:cNvPr id="8" name="step 2 card"/>
          <p:cNvSpPr/>
          <p:nvPr/>
        </p:nvSpPr>
        <p:spPr>
          <a:xfrm>
            <a:off x="548640" y="2606040"/>
            <a:ext cx="5440680" cy="960120"/>
          </a:xfrm>
          <a:prstGeom prst="roundRect">
            <a:avLst>
              <a:gd name="adj" fmla="val 14286"/>
            </a:avLst>
          </a:prstGeom>
          <a:solidFill>
            <a:schemeClr val="bg1"/>
          </a:solidFill>
          <a:ln/>
        </p:spPr>
      </p:sp>
      <p:sp>
        <p:nvSpPr>
          <p:cNvPr id="9" name="step 2 number"/>
          <p:cNvSpPr/>
          <p:nvPr/>
        </p:nvSpPr>
        <p:spPr>
          <a:xfrm>
            <a:off x="731520" y="2743200"/>
            <a:ext cx="685800" cy="685800"/>
          </a:xfrm>
          <a:prstGeom prst="ellipse">
            <a:avLst/>
          </a:prstGeom>
          <a:solidFill>
            <a:schemeClr val="accent1"/>
          </a:solidFill>
          <a:ln/>
        </p:spPr>
      </p:sp>
      <p:sp>
        <p:nvSpPr>
          <p:cNvPr id="10" name="Text 8"/>
          <p:cNvSpPr txBox="1"/>
          <p:nvPr/>
        </p:nvSpPr>
        <p:spPr>
          <a:xfrm>
            <a:off x="731520" y="2743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1" name="Text 9"/>
          <p:cNvSpPr txBox="1"/>
          <p:nvPr/>
        </p:nvSpPr>
        <p:spPr>
          <a:xfrm>
            <a:off x="1645920" y="2743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5-10 min</a:t>
            </a:r>
            <a:endParaRPr lang="en-US" sz="1600" dirty="0"/>
          </a:p>
        </p:txBody>
      </p:sp>
      <p:sp>
        <p:nvSpPr>
          <p:cNvPr id="12" name="Text 10"/>
          <p:cNvSpPr txBox="1"/>
          <p:nvPr/>
        </p:nvSpPr>
        <p:spPr>
          <a:xfrm>
            <a:off x="2788920" y="2743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Try the AI in Amazon Bedrock</a:t>
            </a:r>
            <a:endParaRPr lang="en-US" sz="1800" dirty="0"/>
          </a:p>
        </p:txBody>
      </p:sp>
      <p:sp>
        <p:nvSpPr>
          <p:cNvPr id="13" name="step 3 card"/>
          <p:cNvSpPr/>
          <p:nvPr/>
        </p:nvSpPr>
        <p:spPr>
          <a:xfrm>
            <a:off x="548640" y="3749040"/>
            <a:ext cx="5440680" cy="960120"/>
          </a:xfrm>
          <a:prstGeom prst="roundRect">
            <a:avLst>
              <a:gd name="adj" fmla="val 14286"/>
            </a:avLst>
          </a:prstGeom>
          <a:solidFill>
            <a:schemeClr val="bg2"/>
          </a:solidFill>
          <a:ln/>
        </p:spPr>
      </p:sp>
      <p:sp>
        <p:nvSpPr>
          <p:cNvPr id="14" name="step 3 number"/>
          <p:cNvSpPr/>
          <p:nvPr/>
        </p:nvSpPr>
        <p:spPr>
          <a:xfrm>
            <a:off x="731520" y="3886200"/>
            <a:ext cx="685800" cy="685800"/>
          </a:xfrm>
          <a:prstGeom prst="ellipse">
            <a:avLst/>
          </a:prstGeom>
          <a:solidFill>
            <a:schemeClr val="accent1"/>
          </a:solidFill>
          <a:ln/>
        </p:spPr>
      </p:sp>
      <p:sp>
        <p:nvSpPr>
          <p:cNvPr id="15" name="Text 13"/>
          <p:cNvSpPr txBox="1"/>
          <p:nvPr/>
        </p:nvSpPr>
        <p:spPr>
          <a:xfrm>
            <a:off x="731520" y="3886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6" name="Text 14"/>
          <p:cNvSpPr txBox="1"/>
          <p:nvPr/>
        </p:nvSpPr>
        <p:spPr>
          <a:xfrm>
            <a:off x="1645920" y="3886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10-20 min</a:t>
            </a:r>
            <a:endParaRPr lang="en-US" sz="1600" dirty="0"/>
          </a:p>
        </p:txBody>
      </p:sp>
      <p:sp>
        <p:nvSpPr>
          <p:cNvPr id="17" name="Text 15"/>
          <p:cNvSpPr txBox="1"/>
          <p:nvPr/>
        </p:nvSpPr>
        <p:spPr>
          <a:xfrm>
            <a:off x="2788920" y="3886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Build the Lambda function</a:t>
            </a:r>
            <a:endParaRPr lang="en-US" sz="1800" dirty="0"/>
          </a:p>
        </p:txBody>
      </p:sp>
      <p:sp>
        <p:nvSpPr>
          <p:cNvPr id="18" name="step 4 card"/>
          <p:cNvSpPr/>
          <p:nvPr/>
        </p:nvSpPr>
        <p:spPr>
          <a:xfrm>
            <a:off x="548640" y="4892040"/>
            <a:ext cx="5440680" cy="960120"/>
          </a:xfrm>
          <a:prstGeom prst="roundRect">
            <a:avLst>
              <a:gd name="adj" fmla="val 14286"/>
            </a:avLst>
          </a:prstGeom>
          <a:solidFill>
            <a:schemeClr val="bg1"/>
          </a:solidFill>
          <a:ln/>
        </p:spPr>
      </p:sp>
      <p:sp>
        <p:nvSpPr>
          <p:cNvPr id="19" name="step 4 number"/>
          <p:cNvSpPr/>
          <p:nvPr/>
        </p:nvSpPr>
        <p:spPr>
          <a:xfrm>
            <a:off x="731520" y="5029200"/>
            <a:ext cx="685800" cy="685800"/>
          </a:xfrm>
          <a:prstGeom prst="ellipse">
            <a:avLst/>
          </a:prstGeom>
          <a:solidFill>
            <a:schemeClr val="accent1"/>
          </a:solidFill>
          <a:ln/>
        </p:spPr>
      </p:sp>
      <p:sp>
        <p:nvSpPr>
          <p:cNvPr id="20" name="Text 18"/>
          <p:cNvSpPr txBox="1"/>
          <p:nvPr/>
        </p:nvSpPr>
        <p:spPr>
          <a:xfrm>
            <a:off x="731520" y="5029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21" name="Text 19"/>
          <p:cNvSpPr txBox="1"/>
          <p:nvPr/>
        </p:nvSpPr>
        <p:spPr>
          <a:xfrm>
            <a:off x="1645920" y="5029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20-28 min</a:t>
            </a:r>
            <a:endParaRPr lang="en-US" sz="1600" dirty="0"/>
          </a:p>
        </p:txBody>
      </p:sp>
      <p:sp>
        <p:nvSpPr>
          <p:cNvPr id="22" name="Text 20"/>
          <p:cNvSpPr txBox="1"/>
          <p:nvPr/>
        </p:nvSpPr>
        <p:spPr>
          <a:xfrm>
            <a:off x="2788920" y="5029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Connect API Gateway</a:t>
            </a:r>
            <a:endParaRPr lang="en-US" sz="1800" dirty="0"/>
          </a:p>
        </p:txBody>
      </p:sp>
      <p:sp>
        <p:nvSpPr>
          <p:cNvPr id="23" name="step 5 card"/>
          <p:cNvSpPr/>
          <p:nvPr/>
        </p:nvSpPr>
        <p:spPr>
          <a:xfrm>
            <a:off x="6172200" y="1463040"/>
            <a:ext cx="5440680" cy="960120"/>
          </a:xfrm>
          <a:prstGeom prst="roundRect">
            <a:avLst>
              <a:gd name="adj" fmla="val 14286"/>
            </a:avLst>
          </a:prstGeom>
          <a:solidFill>
            <a:schemeClr val="bg2"/>
          </a:solidFill>
          <a:ln/>
        </p:spPr>
      </p:sp>
      <p:sp>
        <p:nvSpPr>
          <p:cNvPr id="24" name="step 5 number"/>
          <p:cNvSpPr/>
          <p:nvPr/>
        </p:nvSpPr>
        <p:spPr>
          <a:xfrm>
            <a:off x="6355080" y="1600200"/>
            <a:ext cx="685800" cy="685800"/>
          </a:xfrm>
          <a:prstGeom prst="ellipse">
            <a:avLst/>
          </a:prstGeom>
          <a:solidFill>
            <a:schemeClr val="accent1"/>
          </a:solidFill>
          <a:ln/>
        </p:spPr>
      </p:sp>
      <p:sp>
        <p:nvSpPr>
          <p:cNvPr id="25" name="Text 23"/>
          <p:cNvSpPr txBox="1"/>
          <p:nvPr/>
        </p:nvSpPr>
        <p:spPr>
          <a:xfrm>
            <a:off x="6355080" y="1600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5</a:t>
            </a:r>
            <a:endParaRPr lang="en-US" sz="2000" dirty="0"/>
          </a:p>
        </p:txBody>
      </p:sp>
      <p:sp>
        <p:nvSpPr>
          <p:cNvPr id="26" name="Text 24"/>
          <p:cNvSpPr txBox="1"/>
          <p:nvPr/>
        </p:nvSpPr>
        <p:spPr>
          <a:xfrm>
            <a:off x="7269480" y="1600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28-37 min</a:t>
            </a:r>
            <a:endParaRPr lang="en-US" sz="1600" dirty="0"/>
          </a:p>
        </p:txBody>
      </p:sp>
      <p:sp>
        <p:nvSpPr>
          <p:cNvPr id="27" name="Text 25"/>
          <p:cNvSpPr txBox="1"/>
          <p:nvPr/>
        </p:nvSpPr>
        <p:spPr>
          <a:xfrm>
            <a:off x="8412480" y="1600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Connect the website</a:t>
            </a:r>
            <a:endParaRPr lang="en-US" sz="1800" dirty="0"/>
          </a:p>
        </p:txBody>
      </p:sp>
      <p:sp>
        <p:nvSpPr>
          <p:cNvPr id="28" name="step 6 card"/>
          <p:cNvSpPr/>
          <p:nvPr/>
        </p:nvSpPr>
        <p:spPr>
          <a:xfrm>
            <a:off x="6172200" y="2606040"/>
            <a:ext cx="5440680" cy="960120"/>
          </a:xfrm>
          <a:prstGeom prst="roundRect">
            <a:avLst>
              <a:gd name="adj" fmla="val 14286"/>
            </a:avLst>
          </a:prstGeom>
          <a:solidFill>
            <a:schemeClr val="bg1"/>
          </a:solidFill>
          <a:ln/>
        </p:spPr>
      </p:sp>
      <p:sp>
        <p:nvSpPr>
          <p:cNvPr id="29" name="step 6 number"/>
          <p:cNvSpPr/>
          <p:nvPr/>
        </p:nvSpPr>
        <p:spPr>
          <a:xfrm>
            <a:off x="6355080" y="2743200"/>
            <a:ext cx="685800" cy="685800"/>
          </a:xfrm>
          <a:prstGeom prst="ellipse">
            <a:avLst/>
          </a:prstGeom>
          <a:solidFill>
            <a:schemeClr val="accent1"/>
          </a:solidFill>
          <a:ln/>
        </p:spPr>
      </p:sp>
      <p:sp>
        <p:nvSpPr>
          <p:cNvPr id="30" name="Text 28"/>
          <p:cNvSpPr txBox="1"/>
          <p:nvPr/>
        </p:nvSpPr>
        <p:spPr>
          <a:xfrm>
            <a:off x="6355080" y="2743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6</a:t>
            </a:r>
            <a:endParaRPr lang="en-US" sz="2000" dirty="0"/>
          </a:p>
        </p:txBody>
      </p:sp>
      <p:sp>
        <p:nvSpPr>
          <p:cNvPr id="31" name="Text 29"/>
          <p:cNvSpPr txBox="1"/>
          <p:nvPr/>
        </p:nvSpPr>
        <p:spPr>
          <a:xfrm>
            <a:off x="7269480" y="2743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37-41 min</a:t>
            </a:r>
            <a:endParaRPr lang="en-US" sz="1600" dirty="0"/>
          </a:p>
        </p:txBody>
      </p:sp>
      <p:sp>
        <p:nvSpPr>
          <p:cNvPr id="32" name="Text 30"/>
          <p:cNvSpPr txBox="1"/>
          <p:nvPr/>
        </p:nvSpPr>
        <p:spPr>
          <a:xfrm>
            <a:off x="8412480" y="2743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Test your app</a:t>
            </a:r>
            <a:endParaRPr lang="en-US" sz="1800" dirty="0"/>
          </a:p>
        </p:txBody>
      </p:sp>
      <p:sp>
        <p:nvSpPr>
          <p:cNvPr id="33" name="step 7 card"/>
          <p:cNvSpPr/>
          <p:nvPr/>
        </p:nvSpPr>
        <p:spPr>
          <a:xfrm>
            <a:off x="6172200" y="3749040"/>
            <a:ext cx="5440680" cy="960120"/>
          </a:xfrm>
          <a:prstGeom prst="roundRect">
            <a:avLst>
              <a:gd name="adj" fmla="val 14286"/>
            </a:avLst>
          </a:prstGeom>
          <a:solidFill>
            <a:schemeClr val="bg2"/>
          </a:solidFill>
          <a:ln/>
        </p:spPr>
      </p:sp>
      <p:sp>
        <p:nvSpPr>
          <p:cNvPr id="34" name="step 7 number"/>
          <p:cNvSpPr/>
          <p:nvPr/>
        </p:nvSpPr>
        <p:spPr>
          <a:xfrm>
            <a:off x="6355080" y="3886200"/>
            <a:ext cx="685800" cy="685800"/>
          </a:xfrm>
          <a:prstGeom prst="ellipse">
            <a:avLst/>
          </a:prstGeom>
          <a:solidFill>
            <a:schemeClr val="accent1"/>
          </a:solidFill>
          <a:ln/>
        </p:spPr>
      </p:sp>
      <p:sp>
        <p:nvSpPr>
          <p:cNvPr id="35" name="Text 33"/>
          <p:cNvSpPr txBox="1"/>
          <p:nvPr/>
        </p:nvSpPr>
        <p:spPr>
          <a:xfrm>
            <a:off x="6355080" y="3886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7</a:t>
            </a:r>
            <a:endParaRPr lang="en-US" sz="2000" dirty="0"/>
          </a:p>
        </p:txBody>
      </p:sp>
      <p:sp>
        <p:nvSpPr>
          <p:cNvPr id="36" name="Text 34"/>
          <p:cNvSpPr txBox="1"/>
          <p:nvPr/>
        </p:nvSpPr>
        <p:spPr>
          <a:xfrm>
            <a:off x="7269480" y="3886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41-44 min</a:t>
            </a:r>
            <a:endParaRPr lang="en-US" sz="1600" dirty="0"/>
          </a:p>
        </p:txBody>
      </p:sp>
      <p:sp>
        <p:nvSpPr>
          <p:cNvPr id="37" name="Text 35"/>
          <p:cNvSpPr txBox="1"/>
          <p:nvPr/>
        </p:nvSpPr>
        <p:spPr>
          <a:xfrm>
            <a:off x="8412480" y="3886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Put it online with Amplify</a:t>
            </a:r>
            <a:endParaRPr lang="en-US" sz="1800" dirty="0"/>
          </a:p>
        </p:txBody>
      </p:sp>
      <p:sp>
        <p:nvSpPr>
          <p:cNvPr id="38" name="step 8 card"/>
          <p:cNvSpPr/>
          <p:nvPr/>
        </p:nvSpPr>
        <p:spPr>
          <a:xfrm>
            <a:off x="6172200" y="4892040"/>
            <a:ext cx="5440680" cy="960120"/>
          </a:xfrm>
          <a:prstGeom prst="roundRect">
            <a:avLst>
              <a:gd name="adj" fmla="val 14286"/>
            </a:avLst>
          </a:prstGeom>
          <a:solidFill>
            <a:schemeClr val="bg1"/>
          </a:solidFill>
          <a:ln/>
        </p:spPr>
      </p:sp>
      <p:sp>
        <p:nvSpPr>
          <p:cNvPr id="39" name="step 8 number"/>
          <p:cNvSpPr/>
          <p:nvPr/>
        </p:nvSpPr>
        <p:spPr>
          <a:xfrm>
            <a:off x="6355080" y="5029200"/>
            <a:ext cx="685800" cy="685800"/>
          </a:xfrm>
          <a:prstGeom prst="ellipse">
            <a:avLst/>
          </a:prstGeom>
          <a:solidFill>
            <a:schemeClr val="accent1"/>
          </a:solidFill>
          <a:ln/>
        </p:spPr>
      </p:sp>
      <p:sp>
        <p:nvSpPr>
          <p:cNvPr id="40" name="Text 38"/>
          <p:cNvSpPr txBox="1"/>
          <p:nvPr/>
        </p:nvSpPr>
        <p:spPr>
          <a:xfrm>
            <a:off x="6355080" y="50292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rPr>
              <a:t>8</a:t>
            </a:r>
            <a:endParaRPr lang="en-US" sz="2000" dirty="0"/>
          </a:p>
        </p:txBody>
      </p:sp>
      <p:sp>
        <p:nvSpPr>
          <p:cNvPr id="41" name="Text 39"/>
          <p:cNvSpPr txBox="1"/>
          <p:nvPr/>
        </p:nvSpPr>
        <p:spPr>
          <a:xfrm>
            <a:off x="7269480" y="5029200"/>
            <a:ext cx="1143000" cy="685800"/>
          </a:xfrm>
          <a:prstGeom prst="rect">
            <a:avLst/>
          </a:prstGeom>
          <a:noFill/>
          <a:ln/>
        </p:spPr>
        <p:txBody>
          <a:bodyPr wrap="square" lIns="0" tIns="0" rIns="0" bIns="0" rtlCol="0" anchor="ctr"/>
          <a:lstStyle/>
          <a:p>
            <a:pPr indent="0" marL="0">
              <a:buNone/>
            </a:pPr>
            <a:r>
              <a:rPr lang="en-US" sz="1600" b="1" dirty="0">
                <a:solidFill>
                  <a:schemeClr val="accent2"/>
                </a:solidFill>
              </a:rPr>
              <a:t>44-45 min</a:t>
            </a:r>
            <a:endParaRPr lang="en-US" sz="1600" dirty="0"/>
          </a:p>
        </p:txBody>
      </p:sp>
      <p:sp>
        <p:nvSpPr>
          <p:cNvPr id="42" name="Text 40"/>
          <p:cNvSpPr txBox="1"/>
          <p:nvPr/>
        </p:nvSpPr>
        <p:spPr>
          <a:xfrm>
            <a:off x="8412480" y="5029200"/>
            <a:ext cx="3063240" cy="685800"/>
          </a:xfrm>
          <a:prstGeom prst="rect">
            <a:avLst/>
          </a:prstGeom>
          <a:noFill/>
          <a:ln/>
        </p:spPr>
        <p:txBody>
          <a:bodyPr wrap="square" lIns="0" tIns="0" rIns="0" bIns="0" rtlCol="0" anchor="ctr"/>
          <a:lstStyle/>
          <a:p>
            <a:pPr indent="0" marL="0">
              <a:buNone/>
            </a:pPr>
            <a:r>
              <a:rPr lang="en-US" sz="1800" dirty="0">
                <a:solidFill>
                  <a:schemeClr val="tx1"/>
                </a:solidFill>
              </a:rPr>
              <a:t>Wrap up and celebrate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You don't need to be an expert</a:t>
            </a:r>
            <a:endParaRPr lang="en-US" sz="3600" dirty="0"/>
          </a:p>
        </p:txBody>
      </p:sp>
      <p:sp>
        <p:nvSpPr>
          <p:cNvPr id="3" name="need 1 card"/>
          <p:cNvSpPr/>
          <p:nvPr/>
        </p:nvSpPr>
        <p:spPr>
          <a:xfrm>
            <a:off x="548640" y="1645920"/>
            <a:ext cx="3520440" cy="3474720"/>
          </a:xfrm>
          <a:prstGeom prst="roundRect">
            <a:avLst>
              <a:gd name="adj" fmla="val 3947"/>
            </a:avLst>
          </a:prstGeom>
          <a:solidFill>
            <a:schemeClr val="bg2"/>
          </a:solidFill>
          <a:ln/>
        </p:spPr>
      </p:sp>
      <p:sp>
        <p:nvSpPr>
          <p:cNvPr id="4" name="need 1 circle"/>
          <p:cNvSpPr/>
          <p:nvPr/>
        </p:nvSpPr>
        <p:spPr>
          <a:xfrm>
            <a:off x="822960" y="1920240"/>
            <a:ext cx="731520" cy="731520"/>
          </a:xfrm>
          <a:prstGeom prst="ellipse">
            <a:avLst/>
          </a:prstGeom>
          <a:solidFill>
            <a:schemeClr val="accent1"/>
          </a:solidFill>
          <a:ln/>
        </p:spPr>
      </p:sp>
      <p:pic>
        <p:nvPicPr>
          <p:cNvPr id="5" name="need 1 icon" descr="need 1">    </p:cNvPr>
          <p:cNvPicPr>
            <a:picLocks noChangeAspect="1"/>
          </p:cNvPicPr>
          <p:nvPr/>
        </p:nvPicPr>
        <p:blipFill>
          <a:blip r:embed="rId1"/>
          <a:stretch>
            <a:fillRect/>
          </a:stretch>
        </p:blipFill>
        <p:spPr>
          <a:xfrm>
            <a:off x="1005840" y="2103120"/>
            <a:ext cx="365760" cy="365760"/>
          </a:xfrm>
          <a:prstGeom prst="rect">
            <a:avLst/>
          </a:prstGeom>
        </p:spPr>
      </p:pic>
      <p:sp>
        <p:nvSpPr>
          <p:cNvPr id="6" name="need 1 head"/>
          <p:cNvSpPr txBox="1"/>
          <p:nvPr/>
        </p:nvSpPr>
        <p:spPr>
          <a:xfrm>
            <a:off x="822960" y="2834640"/>
            <a:ext cx="2971800" cy="457200"/>
          </a:xfrm>
          <a:prstGeom prst="rect">
            <a:avLst/>
          </a:prstGeom>
          <a:noFill/>
          <a:ln/>
        </p:spPr>
        <p:txBody>
          <a:bodyPr wrap="square" lIns="0" tIns="0" rIns="0" bIns="0" rtlCol="0" anchor="t"/>
          <a:lstStyle/>
          <a:p>
            <a:pPr indent="0" marL="0">
              <a:buNone/>
            </a:pPr>
            <a:r>
              <a:rPr lang="en-US" sz="2200" b="1" dirty="0">
                <a:solidFill>
                  <a:schemeClr val="tx1"/>
                </a:solidFill>
              </a:rPr>
              <a:t>What you need</a:t>
            </a:r>
            <a:endParaRPr lang="en-US" sz="2200" dirty="0"/>
          </a:p>
        </p:txBody>
      </p:sp>
      <p:sp>
        <p:nvSpPr>
          <p:cNvPr id="7" name="need 1 body"/>
          <p:cNvSpPr txBox="1"/>
          <p:nvPr/>
        </p:nvSpPr>
        <p:spPr>
          <a:xfrm>
            <a:off x="822960" y="3337560"/>
            <a:ext cx="2971800" cy="1554480"/>
          </a:xfrm>
          <a:prstGeom prst="rect">
            <a:avLst/>
          </a:prstGeom>
          <a:noFill/>
          <a:ln/>
        </p:spPr>
        <p:txBody>
          <a:bodyPr wrap="square" lIns="0" tIns="0" rIns="0" bIns="0" rtlCol="0" anchor="t"/>
          <a:lstStyle/>
          <a:p>
            <a:pPr indent="0" marL="0">
              <a:buNone/>
            </a:pPr>
            <a:r>
              <a:rPr lang="en-US" sz="1800" dirty="0">
                <a:solidFill>
                  <a:schemeClr val="tx2"/>
                </a:solidFill>
              </a:rPr>
              <a:t>A laptop, an AWS account, and your curiosity. That's it.</a:t>
            </a:r>
            <a:endParaRPr lang="en-US" sz="1800" dirty="0"/>
          </a:p>
        </p:txBody>
      </p:sp>
      <p:sp>
        <p:nvSpPr>
          <p:cNvPr id="8" name="need 2 card"/>
          <p:cNvSpPr/>
          <p:nvPr/>
        </p:nvSpPr>
        <p:spPr>
          <a:xfrm>
            <a:off x="4343400" y="1645920"/>
            <a:ext cx="3520440" cy="3474720"/>
          </a:xfrm>
          <a:prstGeom prst="roundRect">
            <a:avLst>
              <a:gd name="adj" fmla="val 3947"/>
            </a:avLst>
          </a:prstGeom>
          <a:solidFill>
            <a:schemeClr val="bg2"/>
          </a:solidFill>
          <a:ln/>
        </p:spPr>
      </p:sp>
      <p:sp>
        <p:nvSpPr>
          <p:cNvPr id="9" name="need 2 circle"/>
          <p:cNvSpPr/>
          <p:nvPr/>
        </p:nvSpPr>
        <p:spPr>
          <a:xfrm>
            <a:off x="4617720" y="1920240"/>
            <a:ext cx="731520" cy="731520"/>
          </a:xfrm>
          <a:prstGeom prst="ellipse">
            <a:avLst/>
          </a:prstGeom>
          <a:solidFill>
            <a:schemeClr val="accent1"/>
          </a:solidFill>
          <a:ln/>
        </p:spPr>
      </p:sp>
      <p:pic>
        <p:nvPicPr>
          <p:cNvPr id="10" name="need 2 icon" descr="need 2">    </p:cNvPr>
          <p:cNvPicPr>
            <a:picLocks noChangeAspect="1"/>
          </p:cNvPicPr>
          <p:nvPr/>
        </p:nvPicPr>
        <p:blipFill>
          <a:blip r:embed="rId2"/>
          <a:stretch>
            <a:fillRect/>
          </a:stretch>
        </p:blipFill>
        <p:spPr>
          <a:xfrm>
            <a:off x="4800600" y="2103120"/>
            <a:ext cx="365760" cy="365760"/>
          </a:xfrm>
          <a:prstGeom prst="rect">
            <a:avLst/>
          </a:prstGeom>
        </p:spPr>
      </p:pic>
      <p:sp>
        <p:nvSpPr>
          <p:cNvPr id="11" name="need 2 head"/>
          <p:cNvSpPr txBox="1"/>
          <p:nvPr/>
        </p:nvSpPr>
        <p:spPr>
          <a:xfrm>
            <a:off x="4617720" y="2834640"/>
            <a:ext cx="2971800" cy="457200"/>
          </a:xfrm>
          <a:prstGeom prst="rect">
            <a:avLst/>
          </a:prstGeom>
          <a:noFill/>
          <a:ln/>
        </p:spPr>
        <p:txBody>
          <a:bodyPr wrap="square" lIns="0" tIns="0" rIns="0" bIns="0" rtlCol="0" anchor="t"/>
          <a:lstStyle/>
          <a:p>
            <a:pPr indent="0" marL="0">
              <a:buNone/>
            </a:pPr>
            <a:r>
              <a:rPr lang="en-US" sz="2200" b="1" dirty="0">
                <a:solidFill>
                  <a:schemeClr val="tx1"/>
                </a:solidFill>
              </a:rPr>
              <a:t>Errors are clues</a:t>
            </a:r>
            <a:endParaRPr lang="en-US" sz="2200" dirty="0"/>
          </a:p>
        </p:txBody>
      </p:sp>
      <p:sp>
        <p:nvSpPr>
          <p:cNvPr id="12" name="need 2 body"/>
          <p:cNvSpPr txBox="1"/>
          <p:nvPr/>
        </p:nvSpPr>
        <p:spPr>
          <a:xfrm>
            <a:off x="4617720" y="3337560"/>
            <a:ext cx="2971800" cy="1554480"/>
          </a:xfrm>
          <a:prstGeom prst="rect">
            <a:avLst/>
          </a:prstGeom>
          <a:noFill/>
          <a:ln/>
        </p:spPr>
        <p:txBody>
          <a:bodyPr wrap="square" lIns="0" tIns="0" rIns="0" bIns="0" rtlCol="0" anchor="t"/>
          <a:lstStyle/>
          <a:p>
            <a:pPr indent="0" marL="0">
              <a:buNone/>
            </a:pPr>
            <a:r>
              <a:rPr lang="en-US" sz="1800" dirty="0">
                <a:solidFill>
                  <a:schemeClr val="tx2"/>
                </a:solidFill>
              </a:rPr>
              <a:t>Red error messages are normal. They tell us what to fix. They don't mean you failed.</a:t>
            </a:r>
            <a:endParaRPr lang="en-US" sz="1800" dirty="0"/>
          </a:p>
        </p:txBody>
      </p:sp>
      <p:sp>
        <p:nvSpPr>
          <p:cNvPr id="13" name="need 3 card"/>
          <p:cNvSpPr/>
          <p:nvPr/>
        </p:nvSpPr>
        <p:spPr>
          <a:xfrm>
            <a:off x="8138160" y="1645920"/>
            <a:ext cx="3520440" cy="3474720"/>
          </a:xfrm>
          <a:prstGeom prst="roundRect">
            <a:avLst>
              <a:gd name="adj" fmla="val 3947"/>
            </a:avLst>
          </a:prstGeom>
          <a:solidFill>
            <a:schemeClr val="bg2"/>
          </a:solidFill>
          <a:ln/>
        </p:spPr>
      </p:sp>
      <p:sp>
        <p:nvSpPr>
          <p:cNvPr id="14" name="need 3 circle"/>
          <p:cNvSpPr/>
          <p:nvPr/>
        </p:nvSpPr>
        <p:spPr>
          <a:xfrm>
            <a:off x="8412480" y="1920240"/>
            <a:ext cx="731520" cy="731520"/>
          </a:xfrm>
          <a:prstGeom prst="ellipse">
            <a:avLst/>
          </a:prstGeom>
          <a:solidFill>
            <a:schemeClr val="accent1"/>
          </a:solidFill>
          <a:ln/>
        </p:spPr>
      </p:sp>
      <p:pic>
        <p:nvPicPr>
          <p:cNvPr id="15" name="need 3 icon" descr="need 3">    </p:cNvPr>
          <p:cNvPicPr>
            <a:picLocks noChangeAspect="1"/>
          </p:cNvPicPr>
          <p:nvPr/>
        </p:nvPicPr>
        <p:blipFill>
          <a:blip r:embed="rId3"/>
          <a:stretch>
            <a:fillRect/>
          </a:stretch>
        </p:blipFill>
        <p:spPr>
          <a:xfrm>
            <a:off x="8595360" y="2103120"/>
            <a:ext cx="365760" cy="365760"/>
          </a:xfrm>
          <a:prstGeom prst="rect">
            <a:avLst/>
          </a:prstGeom>
        </p:spPr>
      </p:pic>
      <p:sp>
        <p:nvSpPr>
          <p:cNvPr id="16" name="need 3 head"/>
          <p:cNvSpPr txBox="1"/>
          <p:nvPr/>
        </p:nvSpPr>
        <p:spPr>
          <a:xfrm>
            <a:off x="8412480" y="2834640"/>
            <a:ext cx="2971800" cy="457200"/>
          </a:xfrm>
          <a:prstGeom prst="rect">
            <a:avLst/>
          </a:prstGeom>
          <a:noFill/>
          <a:ln/>
        </p:spPr>
        <p:txBody>
          <a:bodyPr wrap="square" lIns="0" tIns="0" rIns="0" bIns="0" rtlCol="0" anchor="t"/>
          <a:lstStyle/>
          <a:p>
            <a:pPr indent="0" marL="0">
              <a:buNone/>
            </a:pPr>
            <a:r>
              <a:rPr lang="en-US" sz="2200" b="1" dirty="0">
                <a:solidFill>
                  <a:schemeClr val="tx1"/>
                </a:solidFill>
              </a:rPr>
              <a:t>Help each other</a:t>
            </a:r>
            <a:endParaRPr lang="en-US" sz="2200" dirty="0"/>
          </a:p>
        </p:txBody>
      </p:sp>
      <p:sp>
        <p:nvSpPr>
          <p:cNvPr id="17" name="need 3 body"/>
          <p:cNvSpPr txBox="1"/>
          <p:nvPr/>
        </p:nvSpPr>
        <p:spPr>
          <a:xfrm>
            <a:off x="8412480" y="3337560"/>
            <a:ext cx="2971800" cy="1554480"/>
          </a:xfrm>
          <a:prstGeom prst="rect">
            <a:avLst/>
          </a:prstGeom>
          <a:noFill/>
          <a:ln/>
        </p:spPr>
        <p:txBody>
          <a:bodyPr wrap="square" lIns="0" tIns="0" rIns="0" bIns="0" rtlCol="0" anchor="t"/>
          <a:lstStyle/>
          <a:p>
            <a:pPr indent="0" marL="0">
              <a:buNone/>
            </a:pPr>
            <a:r>
              <a:rPr lang="en-US" sz="1800" dirty="0">
                <a:solidFill>
                  <a:schemeClr val="tx2"/>
                </a:solidFill>
              </a:rPr>
              <a:t>Stuck? Raise your hand. Finished early? Help your neighbor.</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1"/>
                </a:solidFill>
              </a:rPr>
              <a:t>Where these skills can take you</a:t>
            </a:r>
            <a:endParaRPr lang="en-US" sz="3600" dirty="0"/>
          </a:p>
        </p:txBody>
      </p:sp>
      <p:sp>
        <p:nvSpPr>
          <p:cNvPr id="3" name="job 1 card"/>
          <p:cNvSpPr/>
          <p:nvPr/>
        </p:nvSpPr>
        <p:spPr>
          <a:xfrm>
            <a:off x="548640" y="1645920"/>
            <a:ext cx="3520440" cy="1737360"/>
          </a:xfrm>
          <a:prstGeom prst="roundRect">
            <a:avLst>
              <a:gd name="adj" fmla="val 7895"/>
            </a:avLst>
          </a:prstGeom>
          <a:solidFill>
            <a:schemeClr val="bg2"/>
          </a:solidFill>
          <a:ln/>
        </p:spPr>
      </p:sp>
      <p:sp>
        <p:nvSpPr>
          <p:cNvPr id="4" name="job 1 circle"/>
          <p:cNvSpPr/>
          <p:nvPr/>
        </p:nvSpPr>
        <p:spPr>
          <a:xfrm>
            <a:off x="822960" y="2057400"/>
            <a:ext cx="914400" cy="914400"/>
          </a:xfrm>
          <a:prstGeom prst="ellipse">
            <a:avLst/>
          </a:prstGeom>
          <a:solidFill>
            <a:schemeClr val="accent1"/>
          </a:solidFill>
          <a:ln/>
        </p:spPr>
      </p:sp>
      <p:pic>
        <p:nvPicPr>
          <p:cNvPr id="5" name="job 1 icon" descr="job 1">    </p:cNvPr>
          <p:cNvPicPr>
            <a:picLocks noChangeAspect="1"/>
          </p:cNvPicPr>
          <p:nvPr/>
        </p:nvPicPr>
        <p:blipFill>
          <a:blip r:embed="rId1"/>
          <a:stretch>
            <a:fillRect/>
          </a:stretch>
        </p:blipFill>
        <p:spPr>
          <a:xfrm>
            <a:off x="1051560" y="2286000"/>
            <a:ext cx="457200" cy="457200"/>
          </a:xfrm>
          <a:prstGeom prst="rect">
            <a:avLst/>
          </a:prstGeom>
        </p:spPr>
      </p:pic>
      <p:sp>
        <p:nvSpPr>
          <p:cNvPr id="6" name="Text 3"/>
          <p:cNvSpPr txBox="1"/>
          <p:nvPr/>
        </p:nvSpPr>
        <p:spPr>
          <a:xfrm>
            <a:off x="1965960" y="2057400"/>
            <a:ext cx="1965960" cy="914400"/>
          </a:xfrm>
          <a:prstGeom prst="rect">
            <a:avLst/>
          </a:prstGeom>
          <a:noFill/>
          <a:ln/>
        </p:spPr>
        <p:txBody>
          <a:bodyPr wrap="square" lIns="0" tIns="0" rIns="0" bIns="0" rtlCol="0" anchor="ctr"/>
          <a:lstStyle/>
          <a:p>
            <a:pPr indent="0" marL="0">
              <a:buNone/>
            </a:pPr>
            <a:r>
              <a:rPr lang="en-US" sz="2000" b="1" dirty="0">
                <a:solidFill>
                  <a:schemeClr val="tx1"/>
                </a:solidFill>
              </a:rPr>
              <a:t>Cloud Engineer</a:t>
            </a:r>
            <a:endParaRPr lang="en-US" sz="2000" dirty="0"/>
          </a:p>
        </p:txBody>
      </p:sp>
      <p:sp>
        <p:nvSpPr>
          <p:cNvPr id="7" name="job 2 card"/>
          <p:cNvSpPr/>
          <p:nvPr/>
        </p:nvSpPr>
        <p:spPr>
          <a:xfrm>
            <a:off x="4343400" y="1645920"/>
            <a:ext cx="3520440" cy="1737360"/>
          </a:xfrm>
          <a:prstGeom prst="roundRect">
            <a:avLst>
              <a:gd name="adj" fmla="val 7895"/>
            </a:avLst>
          </a:prstGeom>
          <a:solidFill>
            <a:schemeClr val="bg2"/>
          </a:solidFill>
          <a:ln/>
        </p:spPr>
      </p:sp>
      <p:sp>
        <p:nvSpPr>
          <p:cNvPr id="8" name="job 2 circle"/>
          <p:cNvSpPr/>
          <p:nvPr/>
        </p:nvSpPr>
        <p:spPr>
          <a:xfrm>
            <a:off x="4617720" y="2057400"/>
            <a:ext cx="914400" cy="914400"/>
          </a:xfrm>
          <a:prstGeom prst="ellipse">
            <a:avLst/>
          </a:prstGeom>
          <a:solidFill>
            <a:schemeClr val="accent1"/>
          </a:solidFill>
          <a:ln/>
        </p:spPr>
      </p:sp>
      <p:pic>
        <p:nvPicPr>
          <p:cNvPr id="9" name="job 2 icon" descr="job 2">    </p:cNvPr>
          <p:cNvPicPr>
            <a:picLocks noChangeAspect="1"/>
          </p:cNvPicPr>
          <p:nvPr/>
        </p:nvPicPr>
        <p:blipFill>
          <a:blip r:embed="rId2"/>
          <a:stretch>
            <a:fillRect/>
          </a:stretch>
        </p:blipFill>
        <p:spPr>
          <a:xfrm>
            <a:off x="4846320" y="2286000"/>
            <a:ext cx="457200" cy="457200"/>
          </a:xfrm>
          <a:prstGeom prst="rect">
            <a:avLst/>
          </a:prstGeom>
        </p:spPr>
      </p:pic>
      <p:sp>
        <p:nvSpPr>
          <p:cNvPr id="10" name="Text 6"/>
          <p:cNvSpPr txBox="1"/>
          <p:nvPr/>
        </p:nvSpPr>
        <p:spPr>
          <a:xfrm>
            <a:off x="5760720" y="2057400"/>
            <a:ext cx="1965960" cy="914400"/>
          </a:xfrm>
          <a:prstGeom prst="rect">
            <a:avLst/>
          </a:prstGeom>
          <a:noFill/>
          <a:ln/>
        </p:spPr>
        <p:txBody>
          <a:bodyPr wrap="square" lIns="0" tIns="0" rIns="0" bIns="0" rtlCol="0" anchor="ctr"/>
          <a:lstStyle/>
          <a:p>
            <a:pPr indent="0" marL="0">
              <a:buNone/>
            </a:pPr>
            <a:r>
              <a:rPr lang="en-US" sz="2000" b="1" dirty="0">
                <a:solidFill>
                  <a:schemeClr val="tx1"/>
                </a:solidFill>
              </a:rPr>
              <a:t>AI Engineer</a:t>
            </a:r>
            <a:endParaRPr lang="en-US" sz="2000" dirty="0"/>
          </a:p>
        </p:txBody>
      </p:sp>
      <p:sp>
        <p:nvSpPr>
          <p:cNvPr id="11" name="job 3 card"/>
          <p:cNvSpPr/>
          <p:nvPr/>
        </p:nvSpPr>
        <p:spPr>
          <a:xfrm>
            <a:off x="8138160" y="1645920"/>
            <a:ext cx="3520440" cy="1737360"/>
          </a:xfrm>
          <a:prstGeom prst="roundRect">
            <a:avLst>
              <a:gd name="adj" fmla="val 7895"/>
            </a:avLst>
          </a:prstGeom>
          <a:solidFill>
            <a:schemeClr val="bg2"/>
          </a:solidFill>
          <a:ln/>
        </p:spPr>
      </p:sp>
      <p:sp>
        <p:nvSpPr>
          <p:cNvPr id="12" name="job 3 circle"/>
          <p:cNvSpPr/>
          <p:nvPr/>
        </p:nvSpPr>
        <p:spPr>
          <a:xfrm>
            <a:off x="8412480" y="2057400"/>
            <a:ext cx="914400" cy="914400"/>
          </a:xfrm>
          <a:prstGeom prst="ellipse">
            <a:avLst/>
          </a:prstGeom>
          <a:solidFill>
            <a:schemeClr val="accent1"/>
          </a:solidFill>
          <a:ln/>
        </p:spPr>
      </p:sp>
      <p:pic>
        <p:nvPicPr>
          <p:cNvPr id="13" name="job 3 icon" descr="job 3">    </p:cNvPr>
          <p:cNvPicPr>
            <a:picLocks noChangeAspect="1"/>
          </p:cNvPicPr>
          <p:nvPr/>
        </p:nvPicPr>
        <p:blipFill>
          <a:blip r:embed="rId3"/>
          <a:stretch>
            <a:fillRect/>
          </a:stretch>
        </p:blipFill>
        <p:spPr>
          <a:xfrm>
            <a:off x="8641080" y="2286000"/>
            <a:ext cx="457200" cy="457200"/>
          </a:xfrm>
          <a:prstGeom prst="rect">
            <a:avLst/>
          </a:prstGeom>
        </p:spPr>
      </p:pic>
      <p:sp>
        <p:nvSpPr>
          <p:cNvPr id="14" name="Text 9"/>
          <p:cNvSpPr txBox="1"/>
          <p:nvPr/>
        </p:nvSpPr>
        <p:spPr>
          <a:xfrm>
            <a:off x="9555480" y="2057400"/>
            <a:ext cx="1965960" cy="914400"/>
          </a:xfrm>
          <a:prstGeom prst="rect">
            <a:avLst/>
          </a:prstGeom>
          <a:noFill/>
          <a:ln/>
        </p:spPr>
        <p:txBody>
          <a:bodyPr wrap="square" lIns="0" tIns="0" rIns="0" bIns="0" rtlCol="0" anchor="ctr"/>
          <a:lstStyle/>
          <a:p>
            <a:pPr indent="0" marL="0">
              <a:buNone/>
            </a:pPr>
            <a:r>
              <a:rPr lang="en-US" sz="2000" b="1" dirty="0">
                <a:solidFill>
                  <a:schemeClr val="tx1"/>
                </a:solidFill>
              </a:rPr>
              <a:t>Cybersecurity Analyst</a:t>
            </a:r>
            <a:endParaRPr lang="en-US" sz="2000" dirty="0"/>
          </a:p>
        </p:txBody>
      </p:sp>
      <p:sp>
        <p:nvSpPr>
          <p:cNvPr id="15" name="job 4 card"/>
          <p:cNvSpPr/>
          <p:nvPr/>
        </p:nvSpPr>
        <p:spPr>
          <a:xfrm>
            <a:off x="548640" y="3657600"/>
            <a:ext cx="3520440" cy="1737360"/>
          </a:xfrm>
          <a:prstGeom prst="roundRect">
            <a:avLst>
              <a:gd name="adj" fmla="val 7895"/>
            </a:avLst>
          </a:prstGeom>
          <a:solidFill>
            <a:schemeClr val="bg2"/>
          </a:solidFill>
          <a:ln/>
        </p:spPr>
      </p:sp>
      <p:sp>
        <p:nvSpPr>
          <p:cNvPr id="16" name="job 4 circle"/>
          <p:cNvSpPr/>
          <p:nvPr/>
        </p:nvSpPr>
        <p:spPr>
          <a:xfrm>
            <a:off x="822960" y="4069080"/>
            <a:ext cx="914400" cy="914400"/>
          </a:xfrm>
          <a:prstGeom prst="ellipse">
            <a:avLst/>
          </a:prstGeom>
          <a:solidFill>
            <a:schemeClr val="accent1"/>
          </a:solidFill>
          <a:ln/>
        </p:spPr>
      </p:sp>
      <p:pic>
        <p:nvPicPr>
          <p:cNvPr id="17" name="job 4 icon" descr="job 4">    </p:cNvPr>
          <p:cNvPicPr>
            <a:picLocks noChangeAspect="1"/>
          </p:cNvPicPr>
          <p:nvPr/>
        </p:nvPicPr>
        <p:blipFill>
          <a:blip r:embed="rId4"/>
          <a:stretch>
            <a:fillRect/>
          </a:stretch>
        </p:blipFill>
        <p:spPr>
          <a:xfrm>
            <a:off x="1051560" y="4297680"/>
            <a:ext cx="457200" cy="457200"/>
          </a:xfrm>
          <a:prstGeom prst="rect">
            <a:avLst/>
          </a:prstGeom>
        </p:spPr>
      </p:pic>
      <p:sp>
        <p:nvSpPr>
          <p:cNvPr id="18" name="Text 12"/>
          <p:cNvSpPr txBox="1"/>
          <p:nvPr/>
        </p:nvSpPr>
        <p:spPr>
          <a:xfrm>
            <a:off x="1965960" y="4069080"/>
            <a:ext cx="1965960" cy="914400"/>
          </a:xfrm>
          <a:prstGeom prst="rect">
            <a:avLst/>
          </a:prstGeom>
          <a:noFill/>
          <a:ln/>
        </p:spPr>
        <p:txBody>
          <a:bodyPr wrap="square" lIns="0" tIns="0" rIns="0" bIns="0" rtlCol="0" anchor="ctr"/>
          <a:lstStyle/>
          <a:p>
            <a:pPr indent="0" marL="0">
              <a:buNone/>
            </a:pPr>
            <a:r>
              <a:rPr lang="en-US" sz="2000" b="1" dirty="0">
                <a:solidFill>
                  <a:schemeClr val="tx1"/>
                </a:solidFill>
              </a:rPr>
              <a:t>Data Analyst</a:t>
            </a:r>
            <a:endParaRPr lang="en-US" sz="2000" dirty="0"/>
          </a:p>
        </p:txBody>
      </p:sp>
      <p:sp>
        <p:nvSpPr>
          <p:cNvPr id="19" name="job 5 card"/>
          <p:cNvSpPr/>
          <p:nvPr/>
        </p:nvSpPr>
        <p:spPr>
          <a:xfrm>
            <a:off x="4343400" y="3657600"/>
            <a:ext cx="3520440" cy="1737360"/>
          </a:xfrm>
          <a:prstGeom prst="roundRect">
            <a:avLst>
              <a:gd name="adj" fmla="val 7895"/>
            </a:avLst>
          </a:prstGeom>
          <a:solidFill>
            <a:schemeClr val="bg2"/>
          </a:solidFill>
          <a:ln/>
        </p:spPr>
      </p:sp>
      <p:sp>
        <p:nvSpPr>
          <p:cNvPr id="20" name="job 5 circle"/>
          <p:cNvSpPr/>
          <p:nvPr/>
        </p:nvSpPr>
        <p:spPr>
          <a:xfrm>
            <a:off x="4617720" y="4069080"/>
            <a:ext cx="914400" cy="914400"/>
          </a:xfrm>
          <a:prstGeom prst="ellipse">
            <a:avLst/>
          </a:prstGeom>
          <a:solidFill>
            <a:schemeClr val="accent1"/>
          </a:solidFill>
          <a:ln/>
        </p:spPr>
      </p:sp>
      <p:pic>
        <p:nvPicPr>
          <p:cNvPr id="21" name="job 5 icon" descr="job 5">    </p:cNvPr>
          <p:cNvPicPr>
            <a:picLocks noChangeAspect="1"/>
          </p:cNvPicPr>
          <p:nvPr/>
        </p:nvPicPr>
        <p:blipFill>
          <a:blip r:embed="rId5"/>
          <a:stretch>
            <a:fillRect/>
          </a:stretch>
        </p:blipFill>
        <p:spPr>
          <a:xfrm>
            <a:off x="4846320" y="4297680"/>
            <a:ext cx="457200" cy="457200"/>
          </a:xfrm>
          <a:prstGeom prst="rect">
            <a:avLst/>
          </a:prstGeom>
        </p:spPr>
      </p:pic>
      <p:sp>
        <p:nvSpPr>
          <p:cNvPr id="22" name="Text 15"/>
          <p:cNvSpPr txBox="1"/>
          <p:nvPr/>
        </p:nvSpPr>
        <p:spPr>
          <a:xfrm>
            <a:off x="5760720" y="4069080"/>
            <a:ext cx="1965960" cy="914400"/>
          </a:xfrm>
          <a:prstGeom prst="rect">
            <a:avLst/>
          </a:prstGeom>
          <a:noFill/>
          <a:ln/>
        </p:spPr>
        <p:txBody>
          <a:bodyPr wrap="square" lIns="0" tIns="0" rIns="0" bIns="0" rtlCol="0" anchor="ctr"/>
          <a:lstStyle/>
          <a:p>
            <a:pPr indent="0" marL="0">
              <a:buNone/>
            </a:pPr>
            <a:r>
              <a:rPr lang="en-US" sz="2000" b="1" dirty="0">
                <a:solidFill>
                  <a:schemeClr val="tx1"/>
                </a:solidFill>
              </a:rPr>
              <a:t>Solutions Architect</a:t>
            </a:r>
            <a:endParaRPr lang="en-US" sz="2000" dirty="0"/>
          </a:p>
        </p:txBody>
      </p:sp>
      <p:sp>
        <p:nvSpPr>
          <p:cNvPr id="23" name="job 6 card"/>
          <p:cNvSpPr/>
          <p:nvPr/>
        </p:nvSpPr>
        <p:spPr>
          <a:xfrm>
            <a:off x="8138160" y="3657600"/>
            <a:ext cx="3520440" cy="1737360"/>
          </a:xfrm>
          <a:prstGeom prst="roundRect">
            <a:avLst>
              <a:gd name="adj" fmla="val 7895"/>
            </a:avLst>
          </a:prstGeom>
          <a:solidFill>
            <a:schemeClr val="bg2"/>
          </a:solidFill>
          <a:ln/>
        </p:spPr>
      </p:sp>
      <p:sp>
        <p:nvSpPr>
          <p:cNvPr id="24" name="job 6 circle"/>
          <p:cNvSpPr/>
          <p:nvPr/>
        </p:nvSpPr>
        <p:spPr>
          <a:xfrm>
            <a:off x="8412480" y="4069080"/>
            <a:ext cx="914400" cy="914400"/>
          </a:xfrm>
          <a:prstGeom prst="ellipse">
            <a:avLst/>
          </a:prstGeom>
          <a:solidFill>
            <a:schemeClr val="accent1"/>
          </a:solidFill>
          <a:ln/>
        </p:spPr>
      </p:sp>
      <p:pic>
        <p:nvPicPr>
          <p:cNvPr id="25" name="job 6 icon" descr="job 6">    </p:cNvPr>
          <p:cNvPicPr>
            <a:picLocks noChangeAspect="1"/>
          </p:cNvPicPr>
          <p:nvPr/>
        </p:nvPicPr>
        <p:blipFill>
          <a:blip r:embed="rId6"/>
          <a:stretch>
            <a:fillRect/>
          </a:stretch>
        </p:blipFill>
        <p:spPr>
          <a:xfrm>
            <a:off x="8641080" y="4297680"/>
            <a:ext cx="457200" cy="457200"/>
          </a:xfrm>
          <a:prstGeom prst="rect">
            <a:avLst/>
          </a:prstGeom>
        </p:spPr>
      </p:pic>
      <p:sp>
        <p:nvSpPr>
          <p:cNvPr id="26" name="Text 18"/>
          <p:cNvSpPr txBox="1"/>
          <p:nvPr/>
        </p:nvSpPr>
        <p:spPr>
          <a:xfrm>
            <a:off x="9555480" y="4069080"/>
            <a:ext cx="1965960" cy="914400"/>
          </a:xfrm>
          <a:prstGeom prst="rect">
            <a:avLst/>
          </a:prstGeom>
          <a:noFill/>
          <a:ln/>
        </p:spPr>
        <p:txBody>
          <a:bodyPr wrap="square" lIns="0" tIns="0" rIns="0" bIns="0" rtlCol="0" anchor="ctr"/>
          <a:lstStyle/>
          <a:p>
            <a:pPr indent="0" marL="0">
              <a:buNone/>
            </a:pPr>
            <a:r>
              <a:rPr lang="en-US" sz="2000" b="1" dirty="0">
                <a:solidFill>
                  <a:schemeClr val="tx1"/>
                </a:solidFill>
              </a:rPr>
              <a:t>Software Developer</a:t>
            </a:r>
            <a:endParaRPr lang="en-US" sz="2000" dirty="0"/>
          </a:p>
        </p:txBody>
      </p:sp>
      <p:sp>
        <p:nvSpPr>
          <p:cNvPr id="27" name="Text 19"/>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800" i="1" dirty="0">
                <a:solidFill>
                  <a:schemeClr val="tx2"/>
                </a:solidFill>
              </a:rPr>
              <a:t>Today you use the same kinds of tools people in these jobs use.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680960" cy="1737360"/>
          </a:xfrm>
          <a:prstGeom prst="rect">
            <a:avLst/>
          </a:prstGeom>
          <a:noFill/>
          <a:ln/>
        </p:spPr>
        <p:txBody>
          <a:bodyPr wrap="square" lIns="0" tIns="0" rIns="0" bIns="0" rtlCol="0" anchor="b"/>
          <a:lstStyle/>
          <a:p>
            <a:pPr algn="l" indent="0" marL="0">
              <a:buNone/>
            </a:pPr>
            <a:r>
              <a:rPr lang="en-US" sz="4800" b="1" dirty="0">
                <a:solidFill>
                  <a:schemeClr val="bg1"/>
                </a:solidFill>
              </a:rPr>
              <a:t>Let's build.</a:t>
            </a:r>
            <a:endParaRPr lang="en-US" sz="4800" dirty="0"/>
          </a:p>
        </p:txBody>
      </p:sp>
      <p:sp>
        <p:nvSpPr>
          <p:cNvPr id="3" name="Text 0"/>
          <p:cNvSpPr/>
          <p:nvPr>
            <p:ph idx="101" type="body" hasCustomPrompt="1"/>
          </p:nvPr>
        </p:nvSpPr>
        <p:spPr>
          <a:xfrm>
            <a:off x="731520" y="3977640"/>
            <a:ext cx="7680960" cy="1280160"/>
          </a:xfrm>
          <a:prstGeom prst="rect">
            <a:avLst/>
          </a:prstGeom>
          <a:noFill/>
          <a:ln/>
        </p:spPr>
        <p:txBody>
          <a:bodyPr wrap="square" lIns="0" tIns="0" rIns="0" bIns="0" rtlCol="0" anchor="t"/>
          <a:lstStyle/>
          <a:p>
            <a:pPr algn="l" indent="0" marL="0">
              <a:buNone/>
            </a:pPr>
            <a:r>
              <a:rPr lang="en-US" sz="2200" dirty="0">
                <a:solidFill>
                  <a:schemeClr val="accent1"/>
                </a:solidFill>
              </a:rPr>
              <a:t>Get the files: github.com/kingmellow08/ai-career-navigator</a:t>
            </a:r>
            <a:endParaRPr lang="en-US" sz="2200" dirty="0"/>
          </a:p>
        </p:txBody>
      </p:sp>
      <p:pic>
        <p:nvPicPr>
          <p:cNvPr id="4" name="closing icon" descr="Tools">    </p:cNvPr>
          <p:cNvPicPr>
            <a:picLocks noChangeAspect="1"/>
          </p:cNvPicPr>
          <p:nvPr/>
        </p:nvPicPr>
        <p:blipFill>
          <a:blip r:embed="rId1"/>
          <a:stretch>
            <a:fillRect/>
          </a:stretch>
        </p:blipFill>
        <p:spPr>
          <a:xfrm>
            <a:off x="9144000" y="2377440"/>
            <a:ext cx="2194560" cy="2194560"/>
          </a:xfrm>
          <a:prstGeom prst="rect">
            <a:avLst/>
          </a:prstGeom>
        </p:spPr>
      </p:pic>
    </p:spTree>
  </p:cSld>
  <p:clrMapOvr>
    <a:masterClrMapping/>
  </p:clrMapOvr>
</p:sld>
</file>

<file path=ppt/theme/theme1.xml><?xml version="1.0" encoding="utf-8"?>
<a:theme xmlns:a="http://schemas.openxmlformats.org/drawingml/2006/main" name="Career Navigator">
  <a:themeElements>
    <a:clrScheme name="Career Navigator">
      <a:dk1>
        <a:srgbClr val="141B2D"/>
      </a:dk1>
      <a:lt1>
        <a:srgbClr val="FFFFFF"/>
      </a:lt1>
      <a:dk2>
        <a:srgbClr val="3A4157"/>
      </a:dk2>
      <a:lt2>
        <a:srgbClr val="EEF1F6"/>
      </a:lt2>
      <a:accent1>
        <a:srgbClr val="F2A900"/>
      </a:accent1>
      <a:accent2>
        <a:srgbClr val="1F8A70"/>
      </a:accent2>
      <a:accent3>
        <a:srgbClr val="E4572E"/>
      </a:accent3>
      <a:accent4>
        <a:srgbClr val="6C4AB6"/>
      </a:accent4>
      <a:accent5>
        <a:srgbClr val="2E86AB"/>
      </a:accent5>
      <a:accent6>
        <a:srgbClr val="8D99AE"/>
      </a:accent6>
      <a:hlink>
        <a:srgbClr val="2E86AB"/>
      </a:hlink>
      <a:folHlink>
        <a:srgbClr val="6C4AB6"/>
      </a:folHlink>
    </a:clrScheme>
    <a:fontScheme name="Career Navigato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AI Career Coach</dc:title>
  <dc:subject>PptxGenJS Presentation</dc:subject>
  <dc:creator>PptxGenJS</dc:creator>
  <cp:lastModifiedBy>PptxGenJS</cp:lastModifiedBy>
  <cp:revision>1</cp:revision>
  <dcterms:created xsi:type="dcterms:W3CDTF">2026-10-22T07:22:04Z</dcterms:created>
  <dcterms:modified xsi:type="dcterms:W3CDTF">2026-10-22T07:22:04Z</dcterms:modified>
</cp:coreProperties>
</file>